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5143500" cy="9144000"/>
  <p:embeddedFontLst>
    <p:embeddedFont>
      <p:font typeface="Quattrocento Sans"/>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QuattrocentoSans-bold.fntdata"/><Relationship Id="rId27" Type="http://schemas.openxmlformats.org/officeDocument/2006/relationships/font" Target="fonts/QuattrocentoSa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QuattrocentoSa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regular.fntdata"/><Relationship Id="rId30" Type="http://schemas.openxmlformats.org/officeDocument/2006/relationships/font" Target="fonts/QuattrocentoSans-boldItalic.fntdata"/><Relationship Id="rId11" Type="http://schemas.openxmlformats.org/officeDocument/2006/relationships/slide" Target="slides/slide7.xml"/><Relationship Id="rId33" Type="http://schemas.openxmlformats.org/officeDocument/2006/relationships/font" Target="fonts/OpenSans-italic.fntdata"/><Relationship Id="rId10" Type="http://schemas.openxmlformats.org/officeDocument/2006/relationships/slide" Target="slides/slide6.xml"/><Relationship Id="rId32" Type="http://schemas.openxmlformats.org/officeDocument/2006/relationships/font" Target="fonts/OpenSans-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OpenSans-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3C"/>
        </a:solidFill>
      </p:bgPr>
    </p:bg>
    <p:spTree>
      <p:nvGrpSpPr>
        <p:cNvPr id="15" name="Shape 15"/>
        <p:cNvGrpSpPr/>
        <p:nvPr/>
      </p:nvGrpSpPr>
      <p:grpSpPr>
        <a:xfrm>
          <a:off x="0" y="0"/>
          <a:ext cx="0" cy="0"/>
          <a:chOff x="0" y="0"/>
          <a:chExt cx="0" cy="0"/>
        </a:xfrm>
      </p:grpSpPr>
      <p:sp>
        <p:nvSpPr>
          <p:cNvPr id="16" name="Google Shape;16;p3"/>
          <p:cNvSpPr/>
          <p:nvPr/>
        </p:nvSpPr>
        <p:spPr>
          <a:xfrm>
            <a:off x="0" y="411480"/>
            <a:ext cx="9144000" cy="1691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9000"/>
              <a:buFont typeface="Quattrocento Sans"/>
              <a:buNone/>
            </a:pPr>
            <a:r>
              <a:rPr b="0" i="0" lang="en-US" sz="9000" u="none" cap="none" strike="noStrike">
                <a:solidFill>
                  <a:srgbClr val="000000"/>
                </a:solidFill>
                <a:latin typeface="Quattrocento Sans"/>
                <a:ea typeface="Quattrocento Sans"/>
                <a:cs typeface="Quattrocento Sans"/>
                <a:sym typeface="Quattrocento Sans"/>
              </a:rPr>
              <a:t>🦋</a:t>
            </a:r>
            <a:endParaRPr b="0" i="0" sz="9000" u="none" cap="none" strike="noStrike">
              <a:solidFill>
                <a:schemeClr val="dk1"/>
              </a:solidFill>
              <a:latin typeface="Calibri"/>
              <a:ea typeface="Calibri"/>
              <a:cs typeface="Calibri"/>
              <a:sym typeface="Calibri"/>
            </a:endParaRPr>
          </a:p>
        </p:txBody>
      </p:sp>
      <p:sp>
        <p:nvSpPr>
          <p:cNvPr id="17" name="Google Shape;17;p3"/>
          <p:cNvSpPr/>
          <p:nvPr/>
        </p:nvSpPr>
        <p:spPr>
          <a:xfrm>
            <a:off x="457200" y="2240280"/>
            <a:ext cx="82296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800"/>
              <a:buFont typeface="Open Sans"/>
              <a:buNone/>
            </a:pPr>
            <a:r>
              <a:rPr b="1" i="0" lang="en-US" sz="3800" u="none" cap="none" strike="noStrike">
                <a:solidFill>
                  <a:srgbClr val="FFFFFF"/>
                </a:solidFill>
                <a:latin typeface="Open Sans"/>
                <a:ea typeface="Open Sans"/>
                <a:cs typeface="Open Sans"/>
                <a:sym typeface="Open Sans"/>
              </a:rPr>
              <a:t>The Butterfly in the Classroom</a:t>
            </a:r>
            <a:endParaRPr b="0" i="0" sz="3800" u="none" cap="none" strike="noStrike">
              <a:solidFill>
                <a:schemeClr val="dk1"/>
              </a:solidFill>
              <a:latin typeface="Calibri"/>
              <a:ea typeface="Calibri"/>
              <a:cs typeface="Calibri"/>
              <a:sym typeface="Calibri"/>
            </a:endParaRPr>
          </a:p>
        </p:txBody>
      </p:sp>
      <p:sp>
        <p:nvSpPr>
          <p:cNvPr id="18" name="Google Shape;18;p3"/>
          <p:cNvSpPr/>
          <p:nvPr/>
        </p:nvSpPr>
        <p:spPr>
          <a:xfrm>
            <a:off x="3017520" y="3017520"/>
            <a:ext cx="1927555"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945075" y="3017520"/>
            <a:ext cx="1181405"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57200" y="3154680"/>
            <a:ext cx="8229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BFCC"/>
              </a:buClr>
              <a:buSzPts val="1550"/>
              <a:buFont typeface="Open Sans"/>
              <a:buNone/>
            </a:pPr>
            <a:r>
              <a:rPr b="1" i="1" lang="en-US" sz="1800" u="none" cap="none" strike="noStrike">
                <a:solidFill>
                  <a:srgbClr val="7ABFCC"/>
                </a:solidFill>
                <a:latin typeface="Open Sans"/>
                <a:ea typeface="Open Sans"/>
                <a:cs typeface="Open Sans"/>
                <a:sym typeface="Open Sans"/>
              </a:rPr>
              <a:t>AI Tools for Education</a:t>
            </a:r>
            <a:r>
              <a:rPr b="0" i="1" lang="en-US" sz="1550" u="none" cap="none" strike="noStrike">
                <a:solidFill>
                  <a:srgbClr val="7ABFCC"/>
                </a:solidFill>
                <a:latin typeface="Open Sans"/>
                <a:ea typeface="Open Sans"/>
                <a:cs typeface="Open Sans"/>
                <a:sym typeface="Open Sans"/>
              </a:rPr>
              <a:t>  |  </a:t>
            </a:r>
            <a:r>
              <a:rPr b="1" i="1" lang="en-US" sz="1550">
                <a:solidFill>
                  <a:srgbClr val="B81A1A"/>
                </a:solidFill>
                <a:latin typeface="Open Sans"/>
                <a:ea typeface="Open Sans"/>
                <a:cs typeface="Open Sans"/>
                <a:sym typeface="Open Sans"/>
              </a:rPr>
              <a:t>අපේ</a:t>
            </a:r>
            <a:r>
              <a:rPr b="1" i="1" lang="en-US" sz="1550" u="none" cap="none" strike="noStrike">
                <a:solidFill>
                  <a:srgbClr val="B81A1A"/>
                </a:solidFill>
                <a:latin typeface="Open Sans"/>
                <a:ea typeface="Open Sans"/>
                <a:cs typeface="Open Sans"/>
                <a:sym typeface="Open Sans"/>
              </a:rPr>
              <a:t> Academic Context</a:t>
            </a:r>
            <a:endParaRPr b="1" i="0" sz="1550" u="none" cap="none" strike="noStrike">
              <a:solidFill>
                <a:srgbClr val="B81A1A"/>
              </a:solidFill>
              <a:latin typeface="Calibri"/>
              <a:ea typeface="Calibri"/>
              <a:cs typeface="Calibri"/>
              <a:sym typeface="Calibri"/>
            </a:endParaRPr>
          </a:p>
        </p:txBody>
      </p:sp>
      <p:sp>
        <p:nvSpPr>
          <p:cNvPr id="21" name="Google Shape;21;p3"/>
          <p:cNvSpPr/>
          <p:nvPr/>
        </p:nvSpPr>
        <p:spPr>
          <a:xfrm>
            <a:off x="457200" y="4663440"/>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56070"/>
              </a:buClr>
              <a:buSzPts val="950"/>
              <a:buFont typeface="Open Sans"/>
              <a:buNone/>
            </a:pPr>
            <a:r>
              <a:rPr b="0" i="0" lang="en-US" sz="950" u="none" cap="none" strike="noStrike">
                <a:solidFill>
                  <a:srgbClr val="456070"/>
                </a:solidFill>
                <a:latin typeface="Open Sans"/>
                <a:ea typeface="Open Sans"/>
                <a:cs typeface="Open Sans"/>
                <a:sym typeface="Open Sans"/>
              </a:rPr>
              <a:t>60-minute session  |  NIBM </a:t>
            </a:r>
            <a:r>
              <a:rPr lang="en-US" sz="950">
                <a:solidFill>
                  <a:srgbClr val="456070"/>
                </a:solidFill>
                <a:latin typeface="Open Sans"/>
                <a:ea typeface="Open Sans"/>
                <a:cs typeface="Open Sans"/>
                <a:sym typeface="Open Sans"/>
              </a:rPr>
              <a:t>School of Computing and Engineering</a:t>
            </a:r>
            <a:endParaRPr b="0" i="0" sz="950" u="none" cap="none" strike="noStrike">
              <a:solidFill>
                <a:schemeClr val="dk1"/>
              </a:solidFill>
              <a:latin typeface="Calibri"/>
              <a:ea typeface="Calibri"/>
              <a:cs typeface="Calibri"/>
              <a:sym typeface="Calibri"/>
            </a:endParaRPr>
          </a:p>
        </p:txBody>
      </p:sp>
      <p:sp>
        <p:nvSpPr>
          <p:cNvPr id="22" name="Google Shape;22;p3"/>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6070"/>
              </a:buClr>
              <a:buSzPts val="800"/>
              <a:buFont typeface="Open Sans"/>
              <a:buNone/>
            </a:pPr>
            <a:r>
              <a:rPr b="0" i="0" lang="en-US" sz="800" u="none" cap="none" strike="noStrike">
                <a:solidFill>
                  <a:srgbClr val="456070"/>
                </a:solidFill>
                <a:latin typeface="Open Sans"/>
                <a:ea typeface="Open Sans"/>
                <a:cs typeface="Open Sans"/>
                <a:sym typeface="Open Sans"/>
              </a:rPr>
              <a:t>1</a:t>
            </a:r>
            <a:endParaRPr b="0" i="0" sz="800" u="none" cap="none" strike="noStrike">
              <a:solidFill>
                <a:schemeClr val="dk1"/>
              </a:solidFill>
              <a:latin typeface="Calibri"/>
              <a:ea typeface="Calibri"/>
              <a:cs typeface="Calibri"/>
              <a:sym typeface="Calibri"/>
            </a:endParaRPr>
          </a:p>
        </p:txBody>
      </p:sp>
      <p:pic>
        <p:nvPicPr>
          <p:cNvPr id="23" name="Google Shape;23;p3" title="NIBM-logo.png"/>
          <p:cNvPicPr preferRelativeResize="0"/>
          <p:nvPr/>
        </p:nvPicPr>
        <p:blipFill>
          <a:blip r:embed="rId3">
            <a:alphaModFix/>
          </a:blip>
          <a:stretch>
            <a:fillRect/>
          </a:stretch>
        </p:blipFill>
        <p:spPr>
          <a:xfrm>
            <a:off x="2450453" y="4173231"/>
            <a:ext cx="2277638" cy="513765"/>
          </a:xfrm>
          <a:prstGeom prst="rect">
            <a:avLst/>
          </a:prstGeom>
          <a:noFill/>
          <a:ln>
            <a:noFill/>
          </a:ln>
          <a:effectLst>
            <a:outerShdw blurRad="44597" rotWithShape="0" algn="bl" dir="5400000" dist="14866">
              <a:srgbClr val="000000">
                <a:alpha val="50000"/>
              </a:srgbClr>
            </a:outerShdw>
            <a:reflection blurRad="0" dir="5400000" dist="29731" endA="0" endPos="30000" fadeDir="5400012" kx="0" rotWithShape="0" algn="bl" stPos="0" sy="-100000" ky="0"/>
          </a:effectLst>
        </p:spPr>
      </p:pic>
      <p:pic>
        <p:nvPicPr>
          <p:cNvPr id="24" name="Google Shape;24;p3"/>
          <p:cNvPicPr preferRelativeResize="0"/>
          <p:nvPr/>
        </p:nvPicPr>
        <p:blipFill rotWithShape="1">
          <a:blip r:embed="rId4">
            <a:alphaModFix/>
          </a:blip>
          <a:srcRect b="34344" l="0" r="0" t="36406"/>
          <a:stretch/>
        </p:blipFill>
        <p:spPr>
          <a:xfrm>
            <a:off x="5056376" y="4183856"/>
            <a:ext cx="1756500" cy="513775"/>
          </a:xfrm>
          <a:prstGeom prst="rect">
            <a:avLst/>
          </a:prstGeom>
          <a:noFill/>
          <a:ln>
            <a:noFill/>
          </a:ln>
        </p:spPr>
      </p:pic>
      <p:sp>
        <p:nvSpPr>
          <p:cNvPr id="25" name="Google Shape;25;p3"/>
          <p:cNvSpPr txBox="1"/>
          <p:nvPr/>
        </p:nvSpPr>
        <p:spPr>
          <a:xfrm>
            <a:off x="6516150" y="3523775"/>
            <a:ext cx="227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a:solidFill>
                  <a:schemeClr val="lt2"/>
                </a:solidFill>
                <a:latin typeface="Open Sans"/>
                <a:ea typeface="Open Sans"/>
                <a:cs typeface="Open Sans"/>
                <a:sym typeface="Open Sans"/>
              </a:rPr>
              <a:t>Niranga Dharmaratna</a:t>
            </a:r>
            <a:br>
              <a:rPr i="1" lang="en-US">
                <a:solidFill>
                  <a:schemeClr val="lt2"/>
                </a:solidFill>
                <a:latin typeface="Open Sans"/>
                <a:ea typeface="Open Sans"/>
                <a:cs typeface="Open Sans"/>
                <a:sym typeface="Open Sans"/>
              </a:rPr>
            </a:br>
            <a:r>
              <a:rPr i="1" lang="en-US" sz="1100">
                <a:solidFill>
                  <a:schemeClr val="lt2"/>
                </a:solidFill>
                <a:latin typeface="Open Sans"/>
                <a:ea typeface="Open Sans"/>
                <a:cs typeface="Open Sans"/>
                <a:sym typeface="Open Sans"/>
              </a:rPr>
              <a:t>niranga@nibm.ac.lk</a:t>
            </a:r>
            <a:endParaRPr i="1" sz="1100">
              <a:solidFill>
                <a:schemeClr val="lt2"/>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4"/>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The Same Student. Three Different Worlds.</a:t>
            </a:r>
            <a:endParaRPr b="0" i="0" sz="2500" u="none" cap="none" strike="noStrike">
              <a:solidFill>
                <a:schemeClr val="dk1"/>
              </a:solidFill>
              <a:latin typeface="Calibri"/>
              <a:ea typeface="Calibri"/>
              <a:cs typeface="Calibri"/>
              <a:sym typeface="Calibri"/>
            </a:endParaRPr>
          </a:p>
        </p:txBody>
      </p:sp>
      <p:sp>
        <p:nvSpPr>
          <p:cNvPr id="32" name="Google Shape;32;p4"/>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INITIAL CONDITIONS</a:t>
            </a:r>
            <a:endParaRPr b="0" i="0" sz="700" u="none" cap="none" strike="noStrike">
              <a:solidFill>
                <a:schemeClr val="dk1"/>
              </a:solidFill>
              <a:latin typeface="Calibri"/>
              <a:ea typeface="Calibri"/>
              <a:cs typeface="Calibri"/>
              <a:sym typeface="Calibri"/>
            </a:endParaRPr>
          </a:p>
        </p:txBody>
      </p:sp>
      <p:sp>
        <p:nvSpPr>
          <p:cNvPr id="36" name="Google Shape;36;p4"/>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2</a:t>
            </a:r>
            <a:endParaRPr b="0" i="0" sz="800" u="none" cap="none" strike="noStrike">
              <a:solidFill>
                <a:schemeClr val="dk1"/>
              </a:solidFill>
              <a:latin typeface="Calibri"/>
              <a:ea typeface="Calibri"/>
              <a:cs typeface="Calibri"/>
              <a:sym typeface="Calibri"/>
            </a:endParaRPr>
          </a:p>
        </p:txBody>
      </p:sp>
      <p:sp>
        <p:nvSpPr>
          <p:cNvPr id="37" name="Google Shape;37;p4"/>
          <p:cNvSpPr/>
          <p:nvPr/>
        </p:nvSpPr>
        <p:spPr>
          <a:xfrm>
            <a:off x="502920" y="886968"/>
            <a:ext cx="2606040" cy="3337560"/>
          </a:xfrm>
          <a:prstGeom prst="rect">
            <a:avLst/>
          </a:prstGeom>
          <a:solidFill>
            <a:srgbClr val="F4F5F7"/>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02920" y="886968"/>
            <a:ext cx="64008" cy="3337560"/>
          </a:xfrm>
          <a:prstGeom prst="rect">
            <a:avLst/>
          </a:prstGeom>
          <a:solidFill>
            <a:srgbClr val="8A9FB0"/>
          </a:solidFill>
          <a:ln cap="flat" cmpd="sng" w="12700">
            <a:solidFill>
              <a:srgbClr val="8A9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30936" y="978408"/>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FB0"/>
              </a:buClr>
              <a:buSzPts val="1050"/>
              <a:buFont typeface="Open Sans"/>
              <a:buNone/>
            </a:pPr>
            <a:r>
              <a:rPr b="1" i="0" lang="en-US" u="none" cap="none" strike="noStrike">
                <a:solidFill>
                  <a:srgbClr val="8A9FB0"/>
                </a:solidFill>
                <a:latin typeface="Open Sans"/>
                <a:ea typeface="Open Sans"/>
                <a:cs typeface="Open Sans"/>
                <a:sym typeface="Open Sans"/>
              </a:rPr>
              <a:t>Version A</a:t>
            </a:r>
            <a:endParaRPr b="0" i="0" u="none" cap="none" strike="noStrike">
              <a:solidFill>
                <a:schemeClr val="dk1"/>
              </a:solidFill>
              <a:latin typeface="Calibri"/>
              <a:ea typeface="Calibri"/>
              <a:cs typeface="Calibri"/>
              <a:sym typeface="Calibri"/>
            </a:endParaRPr>
          </a:p>
        </p:txBody>
      </p:sp>
      <p:sp>
        <p:nvSpPr>
          <p:cNvPr id="40" name="Google Shape;40;p4"/>
          <p:cNvSpPr/>
          <p:nvPr/>
        </p:nvSpPr>
        <p:spPr>
          <a:xfrm>
            <a:off x="630936" y="1271016"/>
            <a:ext cx="2423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FB0"/>
              </a:buClr>
              <a:buSzPts val="900"/>
              <a:buFont typeface="Open Sans"/>
              <a:buNone/>
            </a:pPr>
            <a:r>
              <a:rPr b="0" i="1" lang="en-US" sz="1200" u="none" cap="none" strike="noStrike">
                <a:solidFill>
                  <a:schemeClr val="dk1"/>
                </a:solidFill>
                <a:latin typeface="Open Sans"/>
                <a:ea typeface="Open Sans"/>
                <a:cs typeface="Open Sans"/>
                <a:sym typeface="Open Sans"/>
              </a:rPr>
              <a:t>Handwritten draft</a:t>
            </a:r>
            <a:endParaRPr b="0" i="0" sz="1200" u="none" cap="none" strike="noStrike">
              <a:solidFill>
                <a:schemeClr val="dk1"/>
              </a:solidFill>
              <a:latin typeface="Calibri"/>
              <a:ea typeface="Calibri"/>
              <a:cs typeface="Calibri"/>
              <a:sym typeface="Calibri"/>
            </a:endParaRPr>
          </a:p>
        </p:txBody>
      </p:sp>
      <p:cxnSp>
        <p:nvCxnSpPr>
          <p:cNvPr id="41" name="Google Shape;41;p4"/>
          <p:cNvCxnSpPr/>
          <p:nvPr/>
        </p:nvCxnSpPr>
        <p:spPr>
          <a:xfrm>
            <a:off x="630936" y="1527048"/>
            <a:ext cx="2386584" cy="0"/>
          </a:xfrm>
          <a:prstGeom prst="straightConnector1">
            <a:avLst/>
          </a:prstGeom>
          <a:noFill/>
          <a:ln cap="flat" cmpd="sng" w="9525">
            <a:solidFill>
              <a:srgbClr val="DEE6EC"/>
            </a:solidFill>
            <a:prstDash val="solid"/>
            <a:round/>
            <a:headEnd len="sm" w="sm" type="none"/>
            <a:tailEnd len="sm" w="sm" type="none"/>
          </a:ln>
        </p:spPr>
      </p:cxnSp>
      <p:sp>
        <p:nvSpPr>
          <p:cNvPr id="42" name="Google Shape;42;p4"/>
          <p:cNvSpPr/>
          <p:nvPr/>
        </p:nvSpPr>
        <p:spPr>
          <a:xfrm>
            <a:off x="630936" y="1618488"/>
            <a:ext cx="2404872" cy="2423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Photosynthesis is a prosses plants do with sunlight. They take in CO2 and water and make energy. Its importent for all living things because of the food chain and stuff.</a:t>
            </a:r>
            <a:endParaRPr b="0" i="0" sz="1150" u="none" cap="none" strike="noStrike">
              <a:solidFill>
                <a:schemeClr val="dk1"/>
              </a:solidFill>
              <a:latin typeface="Calibri"/>
              <a:ea typeface="Calibri"/>
              <a:cs typeface="Calibri"/>
              <a:sym typeface="Calibri"/>
            </a:endParaRPr>
          </a:p>
        </p:txBody>
      </p:sp>
      <p:sp>
        <p:nvSpPr>
          <p:cNvPr id="43" name="Google Shape;43;p4"/>
          <p:cNvSpPr/>
          <p:nvPr/>
        </p:nvSpPr>
        <p:spPr>
          <a:xfrm>
            <a:off x="3268980" y="886968"/>
            <a:ext cx="2606040" cy="333756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3268980" y="886968"/>
            <a:ext cx="64008" cy="3337560"/>
          </a:xfrm>
          <a:prstGeom prst="rect">
            <a:avLst/>
          </a:prstGeom>
          <a:solidFill>
            <a:srgbClr val="4A5E70"/>
          </a:solidFill>
          <a:ln cap="flat" cmpd="sng" w="12700">
            <a:solidFill>
              <a:srgbClr val="4A5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3396996" y="978408"/>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050"/>
              <a:buFont typeface="Open Sans"/>
              <a:buNone/>
            </a:pPr>
            <a:r>
              <a:rPr b="1" i="0" lang="en-US" u="none" cap="none" strike="noStrike">
                <a:solidFill>
                  <a:srgbClr val="4A5E70"/>
                </a:solidFill>
                <a:latin typeface="Open Sans"/>
                <a:ea typeface="Open Sans"/>
                <a:cs typeface="Open Sans"/>
                <a:sym typeface="Open Sans"/>
              </a:rPr>
              <a:t>Version B</a:t>
            </a:r>
            <a:endParaRPr b="0" i="0" u="none" cap="none" strike="noStrike">
              <a:solidFill>
                <a:schemeClr val="dk1"/>
              </a:solidFill>
              <a:latin typeface="Calibri"/>
              <a:ea typeface="Calibri"/>
              <a:cs typeface="Calibri"/>
              <a:sym typeface="Calibri"/>
            </a:endParaRPr>
          </a:p>
        </p:txBody>
      </p:sp>
      <p:sp>
        <p:nvSpPr>
          <p:cNvPr id="46" name="Google Shape;46;p4"/>
          <p:cNvSpPr/>
          <p:nvPr/>
        </p:nvSpPr>
        <p:spPr>
          <a:xfrm>
            <a:off x="3396996" y="1271016"/>
            <a:ext cx="2423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FB0"/>
              </a:buClr>
              <a:buSzPts val="900"/>
              <a:buFont typeface="Open Sans"/>
              <a:buNone/>
            </a:pPr>
            <a:r>
              <a:rPr b="0" i="1" lang="en-US" sz="1200" u="none" cap="none" strike="noStrike">
                <a:solidFill>
                  <a:schemeClr val="dk1"/>
                </a:solidFill>
                <a:latin typeface="Open Sans"/>
                <a:ea typeface="Open Sans"/>
                <a:cs typeface="Open Sans"/>
                <a:sym typeface="Open Sans"/>
              </a:rPr>
              <a:t>AI-polished, undisclosed</a:t>
            </a:r>
            <a:endParaRPr b="0" i="0" sz="1200" u="none" cap="none" strike="noStrike">
              <a:solidFill>
                <a:schemeClr val="dk1"/>
              </a:solidFill>
              <a:latin typeface="Calibri"/>
              <a:ea typeface="Calibri"/>
              <a:cs typeface="Calibri"/>
              <a:sym typeface="Calibri"/>
            </a:endParaRPr>
          </a:p>
        </p:txBody>
      </p:sp>
      <p:cxnSp>
        <p:nvCxnSpPr>
          <p:cNvPr id="47" name="Google Shape;47;p4"/>
          <p:cNvCxnSpPr/>
          <p:nvPr/>
        </p:nvCxnSpPr>
        <p:spPr>
          <a:xfrm>
            <a:off x="3396996" y="1527048"/>
            <a:ext cx="2386584" cy="0"/>
          </a:xfrm>
          <a:prstGeom prst="straightConnector1">
            <a:avLst/>
          </a:prstGeom>
          <a:noFill/>
          <a:ln cap="flat" cmpd="sng" w="9525">
            <a:solidFill>
              <a:srgbClr val="DEE6EC"/>
            </a:solidFill>
            <a:prstDash val="solid"/>
            <a:round/>
            <a:headEnd len="sm" w="sm" type="none"/>
            <a:tailEnd len="sm" w="sm" type="none"/>
          </a:ln>
        </p:spPr>
      </p:cxnSp>
      <p:sp>
        <p:nvSpPr>
          <p:cNvPr id="48" name="Google Shape;48;p4"/>
          <p:cNvSpPr/>
          <p:nvPr/>
        </p:nvSpPr>
        <p:spPr>
          <a:xfrm>
            <a:off x="3396996" y="1618488"/>
            <a:ext cx="2404872" cy="2423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Photosynthesis is the biological process by which plants convert light energy into chemical energy. Utilising chlorophyll, they absorb carbon dioxide and water to produce glucose, releasing oxygen as a byproduct.</a:t>
            </a:r>
            <a:endParaRPr b="0" i="0" sz="1150" u="none" cap="none" strike="noStrike">
              <a:solidFill>
                <a:schemeClr val="dk1"/>
              </a:solidFill>
              <a:latin typeface="Calibri"/>
              <a:ea typeface="Calibri"/>
              <a:cs typeface="Calibri"/>
              <a:sym typeface="Calibri"/>
            </a:endParaRPr>
          </a:p>
        </p:txBody>
      </p:sp>
      <p:sp>
        <p:nvSpPr>
          <p:cNvPr id="49" name="Google Shape;49;p4"/>
          <p:cNvSpPr/>
          <p:nvPr/>
        </p:nvSpPr>
        <p:spPr>
          <a:xfrm>
            <a:off x="6035040" y="886968"/>
            <a:ext cx="2606040" cy="3337560"/>
          </a:xfrm>
          <a:prstGeom prst="rect">
            <a:avLst/>
          </a:prstGeom>
          <a:solidFill>
            <a:srgbClr val="E0F4F6"/>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6035040" y="886968"/>
            <a:ext cx="64008" cy="3337560"/>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163056" y="978408"/>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B8A"/>
              </a:buClr>
              <a:buSzPts val="1050"/>
              <a:buFont typeface="Open Sans"/>
              <a:buNone/>
            </a:pPr>
            <a:r>
              <a:rPr b="1" i="0" lang="en-US" u="none" cap="none" strike="noStrike">
                <a:solidFill>
                  <a:srgbClr val="007B8A"/>
                </a:solidFill>
                <a:latin typeface="Open Sans"/>
                <a:ea typeface="Open Sans"/>
                <a:cs typeface="Open Sans"/>
                <a:sym typeface="Open Sans"/>
              </a:rPr>
              <a:t>Version C</a:t>
            </a:r>
            <a:endParaRPr b="0" i="0" u="none" cap="none" strike="noStrike">
              <a:solidFill>
                <a:schemeClr val="dk1"/>
              </a:solidFill>
              <a:latin typeface="Calibri"/>
              <a:ea typeface="Calibri"/>
              <a:cs typeface="Calibri"/>
              <a:sym typeface="Calibri"/>
            </a:endParaRPr>
          </a:p>
        </p:txBody>
      </p:sp>
      <p:sp>
        <p:nvSpPr>
          <p:cNvPr id="52" name="Google Shape;52;p4"/>
          <p:cNvSpPr/>
          <p:nvPr/>
        </p:nvSpPr>
        <p:spPr>
          <a:xfrm>
            <a:off x="6163056" y="1271016"/>
            <a:ext cx="2423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FB0"/>
              </a:buClr>
              <a:buSzPts val="900"/>
              <a:buFont typeface="Open Sans"/>
              <a:buNone/>
            </a:pPr>
            <a:r>
              <a:rPr b="0" i="1" lang="en-US" sz="1200" u="none" cap="none" strike="noStrike">
                <a:solidFill>
                  <a:schemeClr val="dk1"/>
                </a:solidFill>
                <a:latin typeface="Open Sans"/>
                <a:ea typeface="Open Sans"/>
                <a:cs typeface="Open Sans"/>
                <a:sym typeface="Open Sans"/>
              </a:rPr>
              <a:t>AI guided by lecturer framing</a:t>
            </a:r>
            <a:endParaRPr b="0" i="0" sz="1200" u="none" cap="none" strike="noStrike">
              <a:solidFill>
                <a:schemeClr val="dk1"/>
              </a:solidFill>
              <a:latin typeface="Calibri"/>
              <a:ea typeface="Calibri"/>
              <a:cs typeface="Calibri"/>
              <a:sym typeface="Calibri"/>
            </a:endParaRPr>
          </a:p>
        </p:txBody>
      </p:sp>
      <p:cxnSp>
        <p:nvCxnSpPr>
          <p:cNvPr id="53" name="Google Shape;53;p4"/>
          <p:cNvCxnSpPr/>
          <p:nvPr/>
        </p:nvCxnSpPr>
        <p:spPr>
          <a:xfrm>
            <a:off x="6163056" y="1527048"/>
            <a:ext cx="2386584" cy="0"/>
          </a:xfrm>
          <a:prstGeom prst="straightConnector1">
            <a:avLst/>
          </a:prstGeom>
          <a:noFill/>
          <a:ln cap="flat" cmpd="sng" w="9525">
            <a:solidFill>
              <a:srgbClr val="DEE6EC"/>
            </a:solidFill>
            <a:prstDash val="solid"/>
            <a:round/>
            <a:headEnd len="sm" w="sm" type="none"/>
            <a:tailEnd len="sm" w="sm" type="none"/>
          </a:ln>
        </p:spPr>
      </p:cxnSp>
      <p:sp>
        <p:nvSpPr>
          <p:cNvPr id="54" name="Google Shape;54;p4"/>
          <p:cNvSpPr/>
          <p:nvPr/>
        </p:nvSpPr>
        <p:spPr>
          <a:xfrm>
            <a:off x="6163056" y="1618488"/>
            <a:ext cx="2404872" cy="2423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Photosynthesis is the plant's own food factory. Sunlight powers the line. CO2 and water are the inputs. Glucose is the product. Oxygen is the waste that keeps us alive.</a:t>
            </a:r>
            <a:endParaRPr b="0" i="0" sz="1150" u="none" cap="none" strike="noStrike">
              <a:solidFill>
                <a:schemeClr val="dk1"/>
              </a:solidFill>
              <a:latin typeface="Calibri"/>
              <a:ea typeface="Calibri"/>
              <a:cs typeface="Calibri"/>
              <a:sym typeface="Calibri"/>
            </a:endParaRPr>
          </a:p>
        </p:txBody>
      </p:sp>
      <p:sp>
        <p:nvSpPr>
          <p:cNvPr id="55" name="Google Shape;55;p4"/>
          <p:cNvSpPr/>
          <p:nvPr/>
        </p:nvSpPr>
        <p:spPr>
          <a:xfrm>
            <a:off x="502920" y="4334256"/>
            <a:ext cx="8138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700"/>
              <a:buFont typeface="Open Sans"/>
              <a:buNone/>
            </a:pPr>
            <a:r>
              <a:rPr b="1" i="0" lang="en-US" sz="1700" u="none" cap="none" strike="noStrike">
                <a:solidFill>
                  <a:srgbClr val="E8831A"/>
                </a:solidFill>
                <a:latin typeface="Open Sans"/>
                <a:ea typeface="Open Sans"/>
                <a:cs typeface="Open Sans"/>
                <a:sym typeface="Open Sans"/>
              </a:rPr>
              <a:t>Which one is the integrity problem?</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60" name="Shape 60"/>
        <p:cNvGrpSpPr/>
        <p:nvPr/>
      </p:nvGrpSpPr>
      <p:grpSpPr>
        <a:xfrm>
          <a:off x="0" y="0"/>
          <a:ext cx="0" cy="0"/>
          <a:chOff x="0" y="0"/>
          <a:chExt cx="0" cy="0"/>
        </a:xfrm>
      </p:grpSpPr>
      <p:sp>
        <p:nvSpPr>
          <p:cNvPr id="61" name="Google Shape;61;p5"/>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INITIAL CONDITIONS</a:t>
            </a:r>
            <a:endParaRPr b="0" i="0" sz="700" u="none" cap="none" strike="noStrike">
              <a:solidFill>
                <a:schemeClr val="dk1"/>
              </a:solidFill>
              <a:latin typeface="Calibri"/>
              <a:ea typeface="Calibri"/>
              <a:cs typeface="Calibri"/>
              <a:sym typeface="Calibri"/>
            </a:endParaRPr>
          </a:p>
        </p:txBody>
      </p:sp>
      <p:sp>
        <p:nvSpPr>
          <p:cNvPr id="63" name="Google Shape;63;p5"/>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3</a:t>
            </a:r>
            <a:endParaRPr b="0" i="0" sz="800" u="none" cap="none" strike="noStrike">
              <a:solidFill>
                <a:schemeClr val="dk1"/>
              </a:solidFill>
              <a:latin typeface="Calibri"/>
              <a:ea typeface="Calibri"/>
              <a:cs typeface="Calibri"/>
              <a:sym typeface="Calibri"/>
            </a:endParaRPr>
          </a:p>
        </p:txBody>
      </p:sp>
      <p:sp>
        <p:nvSpPr>
          <p:cNvPr id="64" name="Google Shape;64;p5"/>
          <p:cNvSpPr/>
          <p:nvPr/>
        </p:nvSpPr>
        <p:spPr>
          <a:xfrm>
            <a:off x="182880" y="256032"/>
            <a:ext cx="10972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5E8EE"/>
              </a:buClr>
              <a:buSzPts val="12000"/>
              <a:buFont typeface="Georgia"/>
              <a:buNone/>
            </a:pPr>
            <a:r>
              <a:rPr b="0" i="0" lang="en-US" sz="12000" u="none" cap="none" strike="noStrike">
                <a:solidFill>
                  <a:srgbClr val="D5E8EE"/>
                </a:solidFill>
                <a:latin typeface="Georgia"/>
                <a:ea typeface="Georgia"/>
                <a:cs typeface="Georgia"/>
                <a:sym typeface="Georgia"/>
              </a:rPr>
              <a:t>“</a:t>
            </a:r>
            <a:endParaRPr b="0" i="0" sz="12000" u="none" cap="none" strike="noStrike">
              <a:solidFill>
                <a:schemeClr val="dk1"/>
              </a:solidFill>
              <a:latin typeface="Calibri"/>
              <a:ea typeface="Calibri"/>
              <a:cs typeface="Calibri"/>
              <a:sym typeface="Calibri"/>
            </a:endParaRPr>
          </a:p>
        </p:txBody>
      </p:sp>
      <p:sp>
        <p:nvSpPr>
          <p:cNvPr id="65" name="Google Shape;65;p5"/>
          <p:cNvSpPr/>
          <p:nvPr/>
        </p:nvSpPr>
        <p:spPr>
          <a:xfrm>
            <a:off x="502920" y="594360"/>
            <a:ext cx="81381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535"/>
              </a:buClr>
              <a:buSzPts val="4200"/>
              <a:buFont typeface="Open Sans"/>
              <a:buNone/>
            </a:pPr>
            <a:r>
              <a:rPr b="1" i="0" lang="en-US" sz="4200" u="none" cap="none" strike="noStrike">
                <a:solidFill>
                  <a:srgbClr val="1A2535"/>
                </a:solidFill>
                <a:latin typeface="Open Sans"/>
                <a:ea typeface="Open Sans"/>
                <a:cs typeface="Open Sans"/>
                <a:sym typeface="Open Sans"/>
              </a:rPr>
              <a:t>The problem is not the tool.</a:t>
            </a:r>
            <a:endParaRPr b="0" i="0" sz="4200" u="none" cap="none" strike="noStrike">
              <a:solidFill>
                <a:schemeClr val="dk1"/>
              </a:solidFill>
              <a:latin typeface="Calibri"/>
              <a:ea typeface="Calibri"/>
              <a:cs typeface="Calibri"/>
              <a:sym typeface="Calibri"/>
            </a:endParaRPr>
          </a:p>
        </p:txBody>
      </p:sp>
      <p:sp>
        <p:nvSpPr>
          <p:cNvPr id="66" name="Google Shape;66;p5"/>
          <p:cNvSpPr/>
          <p:nvPr/>
        </p:nvSpPr>
        <p:spPr>
          <a:xfrm>
            <a:off x="502920" y="1627632"/>
            <a:ext cx="8138160"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2200"/>
              <a:buFont typeface="Open Sans"/>
              <a:buNone/>
            </a:pPr>
            <a:r>
              <a:rPr b="0" i="0" lang="en-US" sz="2200" u="none" cap="none" strike="noStrike">
                <a:solidFill>
                  <a:srgbClr val="007B8A"/>
                </a:solidFill>
                <a:latin typeface="Open Sans"/>
                <a:ea typeface="Open Sans"/>
                <a:cs typeface="Open Sans"/>
                <a:sym typeface="Open Sans"/>
              </a:rPr>
              <a:t>It is the absence of intentional pedagogy around it.</a:t>
            </a:r>
            <a:endParaRPr b="0" i="0" sz="2200" u="none" cap="none" strike="noStrike">
              <a:solidFill>
                <a:schemeClr val="dk1"/>
              </a:solidFill>
              <a:latin typeface="Calibri"/>
              <a:ea typeface="Calibri"/>
              <a:cs typeface="Calibri"/>
              <a:sym typeface="Calibri"/>
            </a:endParaRPr>
          </a:p>
        </p:txBody>
      </p:sp>
      <p:cxnSp>
        <p:nvCxnSpPr>
          <p:cNvPr id="67" name="Google Shape;67;p5"/>
          <p:cNvCxnSpPr/>
          <p:nvPr/>
        </p:nvCxnSpPr>
        <p:spPr>
          <a:xfrm>
            <a:off x="2286000" y="2359152"/>
            <a:ext cx="4572000" cy="0"/>
          </a:xfrm>
          <a:prstGeom prst="straightConnector1">
            <a:avLst/>
          </a:prstGeom>
          <a:noFill/>
          <a:ln cap="flat" cmpd="sng" w="19050">
            <a:solidFill>
              <a:srgbClr val="DEE6EC"/>
            </a:solidFill>
            <a:prstDash val="solid"/>
            <a:round/>
            <a:headEnd len="sm" w="sm" type="none"/>
            <a:tailEnd len="sm" w="sm" type="none"/>
          </a:ln>
        </p:spPr>
      </p:cxnSp>
      <p:sp>
        <p:nvSpPr>
          <p:cNvPr id="68" name="Google Shape;68;p5"/>
          <p:cNvSpPr/>
          <p:nvPr/>
        </p:nvSpPr>
        <p:spPr>
          <a:xfrm>
            <a:off x="502920" y="2542032"/>
            <a:ext cx="81381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E70"/>
              </a:buClr>
              <a:buSzPts val="1600"/>
              <a:buFont typeface="Open Sans"/>
              <a:buNone/>
            </a:pPr>
            <a:r>
              <a:rPr b="0" i="1" lang="en-US" sz="1600" u="none" cap="none" strike="noStrike">
                <a:solidFill>
                  <a:srgbClr val="4A5E70"/>
                </a:solidFill>
                <a:latin typeface="Open Sans"/>
                <a:ea typeface="Open Sans"/>
                <a:cs typeface="Open Sans"/>
                <a:sym typeface="Open Sans"/>
              </a:rPr>
              <a:t>We have been asking the wrong question.</a:t>
            </a:r>
            <a:endParaRPr b="0" i="0" sz="1600" u="none" cap="none" strike="noStrike">
              <a:solidFill>
                <a:schemeClr val="dk1"/>
              </a:solidFill>
              <a:latin typeface="Calibri"/>
              <a:ea typeface="Calibri"/>
              <a:cs typeface="Calibri"/>
              <a:sym typeface="Calibri"/>
            </a:endParaRPr>
          </a:p>
        </p:txBody>
      </p:sp>
      <p:sp>
        <p:nvSpPr>
          <p:cNvPr id="69" name="Google Shape;69;p5"/>
          <p:cNvSpPr/>
          <p:nvPr/>
        </p:nvSpPr>
        <p:spPr>
          <a:xfrm>
            <a:off x="502920" y="3017520"/>
            <a:ext cx="81381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700"/>
              <a:buFont typeface="Open Sans"/>
              <a:buNone/>
            </a:pPr>
            <a:r>
              <a:rPr b="1" i="0" lang="en-US" sz="1700" u="none" cap="none" strike="noStrike">
                <a:solidFill>
                  <a:srgbClr val="E8831A"/>
                </a:solidFill>
                <a:latin typeface="Open Sans"/>
                <a:ea typeface="Open Sans"/>
                <a:cs typeface="Open Sans"/>
                <a:sym typeface="Open Sans"/>
              </a:rPr>
              <a:t>Today we ask the right one.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6"/>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One Frame for the Next 60 Minutes</a:t>
            </a:r>
            <a:endParaRPr b="0" i="0" sz="2500" u="none" cap="none" strike="noStrike">
              <a:solidFill>
                <a:schemeClr val="dk1"/>
              </a:solidFill>
              <a:latin typeface="Calibri"/>
              <a:ea typeface="Calibri"/>
              <a:cs typeface="Calibri"/>
              <a:sym typeface="Calibri"/>
            </a:endParaRPr>
          </a:p>
        </p:txBody>
      </p:sp>
      <p:sp>
        <p:nvSpPr>
          <p:cNvPr id="76" name="Google Shape;76;p6"/>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INITIAL CONDITIONS</a:t>
            </a:r>
            <a:endParaRPr b="0" i="0" sz="700" u="none" cap="none" strike="noStrike">
              <a:solidFill>
                <a:schemeClr val="dk1"/>
              </a:solidFill>
              <a:latin typeface="Calibri"/>
              <a:ea typeface="Calibri"/>
              <a:cs typeface="Calibri"/>
              <a:sym typeface="Calibri"/>
            </a:endParaRPr>
          </a:p>
        </p:txBody>
      </p:sp>
      <p:sp>
        <p:nvSpPr>
          <p:cNvPr id="80" name="Google Shape;80;p6"/>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4</a:t>
            </a:r>
            <a:endParaRPr b="0" i="0" sz="800" u="none" cap="none" strike="noStrike">
              <a:solidFill>
                <a:schemeClr val="dk1"/>
              </a:solidFill>
              <a:latin typeface="Calibri"/>
              <a:ea typeface="Calibri"/>
              <a:cs typeface="Calibri"/>
              <a:sym typeface="Calibri"/>
            </a:endParaRPr>
          </a:p>
        </p:txBody>
      </p:sp>
      <p:sp>
        <p:nvSpPr>
          <p:cNvPr id="81" name="Google Shape;81;p6"/>
          <p:cNvSpPr/>
          <p:nvPr/>
        </p:nvSpPr>
        <p:spPr>
          <a:xfrm>
            <a:off x="502920" y="987552"/>
            <a:ext cx="2560320" cy="2560320"/>
          </a:xfrm>
          <a:prstGeom prst="ellipse">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502920" y="987552"/>
            <a:ext cx="2560320" cy="2560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800"/>
              <a:buFont typeface="Quattrocento Sans"/>
              <a:buNone/>
            </a:pPr>
            <a:r>
              <a:rPr b="0" i="0" lang="en-US" sz="7800" u="none" cap="none" strike="noStrike">
                <a:solidFill>
                  <a:srgbClr val="000000"/>
                </a:solidFill>
                <a:latin typeface="Quattrocento Sans"/>
                <a:ea typeface="Quattrocento Sans"/>
                <a:cs typeface="Quattrocento Sans"/>
                <a:sym typeface="Quattrocento Sans"/>
              </a:rPr>
              <a:t>🧠</a:t>
            </a:r>
            <a:endParaRPr b="0" i="0" sz="7800" u="none" cap="none" strike="noStrike">
              <a:solidFill>
                <a:schemeClr val="dk1"/>
              </a:solidFill>
              <a:latin typeface="Calibri"/>
              <a:ea typeface="Calibri"/>
              <a:cs typeface="Calibri"/>
              <a:sym typeface="Calibri"/>
            </a:endParaRPr>
          </a:p>
        </p:txBody>
      </p:sp>
      <p:sp>
        <p:nvSpPr>
          <p:cNvPr id="83" name="Google Shape;83;p6"/>
          <p:cNvSpPr/>
          <p:nvPr/>
        </p:nvSpPr>
        <p:spPr>
          <a:xfrm>
            <a:off x="3337560" y="987552"/>
            <a:ext cx="5303520" cy="1115568"/>
          </a:xfrm>
          <a:prstGeom prst="rect">
            <a:avLst/>
          </a:prstGeom>
          <a:solidFill>
            <a:srgbClr val="E0F4F6"/>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3520440" y="1060704"/>
            <a:ext cx="49377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B8A"/>
              </a:buClr>
              <a:buSzPts val="2300"/>
              <a:buFont typeface="Open Sans"/>
              <a:buNone/>
            </a:pPr>
            <a:r>
              <a:rPr b="1" i="0" lang="en-US" sz="2300" u="none" cap="none" strike="noStrike">
                <a:solidFill>
                  <a:srgbClr val="007B8A"/>
                </a:solidFill>
                <a:latin typeface="Open Sans"/>
                <a:ea typeface="Open Sans"/>
                <a:cs typeface="Open Sans"/>
                <a:sym typeface="Open Sans"/>
              </a:rPr>
              <a:t>AI = Thinking Partner</a:t>
            </a:r>
            <a:endParaRPr b="0" i="0" sz="2300" u="none" cap="none" strike="noStrike">
              <a:solidFill>
                <a:schemeClr val="dk1"/>
              </a:solidFill>
              <a:latin typeface="Calibri"/>
              <a:ea typeface="Calibri"/>
              <a:cs typeface="Calibri"/>
              <a:sym typeface="Calibri"/>
            </a:endParaRPr>
          </a:p>
        </p:txBody>
      </p:sp>
      <p:sp>
        <p:nvSpPr>
          <p:cNvPr id="85" name="Google Shape;85;p6"/>
          <p:cNvSpPr/>
          <p:nvPr/>
        </p:nvSpPr>
        <p:spPr>
          <a:xfrm>
            <a:off x="3520440" y="150876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350"/>
              <a:buFont typeface="Open Sans"/>
              <a:buNone/>
            </a:pPr>
            <a:r>
              <a:rPr b="0" i="1" lang="en-US" sz="1350" u="none" cap="none" strike="noStrike">
                <a:solidFill>
                  <a:srgbClr val="4A5E70"/>
                </a:solidFill>
                <a:latin typeface="Open Sans"/>
                <a:ea typeface="Open Sans"/>
                <a:cs typeface="Open Sans"/>
                <a:sym typeface="Open Sans"/>
              </a:rPr>
              <a:t>Not an answer machine.</a:t>
            </a:r>
            <a:endParaRPr b="0" i="0" sz="1350" u="none" cap="none" strike="noStrike">
              <a:solidFill>
                <a:schemeClr val="dk1"/>
              </a:solidFill>
              <a:latin typeface="Calibri"/>
              <a:ea typeface="Calibri"/>
              <a:cs typeface="Calibri"/>
              <a:sym typeface="Calibri"/>
            </a:endParaRPr>
          </a:p>
        </p:txBody>
      </p:sp>
      <p:sp>
        <p:nvSpPr>
          <p:cNvPr id="86" name="Google Shape;86;p6"/>
          <p:cNvSpPr/>
          <p:nvPr/>
        </p:nvSpPr>
        <p:spPr>
          <a:xfrm>
            <a:off x="3337560" y="2231136"/>
            <a:ext cx="5303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350"/>
              <a:buFont typeface="Open Sans"/>
              <a:buNone/>
            </a:pPr>
            <a:r>
              <a:rPr b="0" i="0" lang="en-US" sz="1350" u="none" cap="none" strike="noStrike">
                <a:solidFill>
                  <a:srgbClr val="1A2535"/>
                </a:solidFill>
                <a:latin typeface="Open Sans"/>
                <a:ea typeface="Open Sans"/>
                <a:cs typeface="Open Sans"/>
                <a:sym typeface="Open Sans"/>
              </a:rPr>
              <a:t>A tool that amplifies the quality of your questions.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350"/>
              <a:buFont typeface="Open Sans"/>
              <a:buNone/>
            </a:pPr>
            <a:r>
              <a:rPr b="0" i="0" lang="en-US" sz="1350" u="none" cap="none" strike="noStrike">
                <a:solidFill>
                  <a:srgbClr val="1A2535"/>
                </a:solidFill>
                <a:latin typeface="Open Sans"/>
                <a:ea typeface="Open Sans"/>
                <a:cs typeface="Open Sans"/>
                <a:sym typeface="Open Sans"/>
              </a:rPr>
              <a:t>The output is a direct function of the care you bring to the input.</a:t>
            </a:r>
            <a:endParaRPr b="0" i="0" sz="1350" u="none" cap="none" strike="noStrike">
              <a:solidFill>
                <a:schemeClr val="dk1"/>
              </a:solidFill>
              <a:latin typeface="Calibri"/>
              <a:ea typeface="Calibri"/>
              <a:cs typeface="Calibri"/>
              <a:sym typeface="Calibri"/>
            </a:endParaRPr>
          </a:p>
        </p:txBody>
      </p:sp>
      <p:sp>
        <p:nvSpPr>
          <p:cNvPr id="87" name="Google Shape;87;p6"/>
          <p:cNvSpPr/>
          <p:nvPr/>
        </p:nvSpPr>
        <p:spPr>
          <a:xfrm>
            <a:off x="3337560" y="3108960"/>
            <a:ext cx="5303520" cy="594360"/>
          </a:xfrm>
          <a:prstGeom prst="rect">
            <a:avLst/>
          </a:prstGeom>
          <a:solidFill>
            <a:srgbClr val="FDF0E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520440" y="3145536"/>
            <a:ext cx="5029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1A"/>
              </a:buClr>
              <a:buSzPts val="1350"/>
              <a:buFont typeface="Open Sans"/>
              <a:buNone/>
            </a:pPr>
            <a:r>
              <a:rPr b="1" i="0" lang="en-US" sz="1350" u="none" cap="none" strike="noStrike">
                <a:solidFill>
                  <a:srgbClr val="E8831A"/>
                </a:solidFill>
                <a:latin typeface="Open Sans"/>
                <a:ea typeface="Open Sans"/>
                <a:cs typeface="Open Sans"/>
                <a:sym typeface="Open Sans"/>
              </a:rPr>
              <a:t>Today's demonstration will prove this. Literally.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7"/>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Three Families, One Decision</a:t>
            </a:r>
            <a:endParaRPr b="0" i="0" sz="2500" u="none" cap="none" strike="noStrike">
              <a:solidFill>
                <a:schemeClr val="dk1"/>
              </a:solidFill>
              <a:latin typeface="Calibri"/>
              <a:ea typeface="Calibri"/>
              <a:cs typeface="Calibri"/>
              <a:sym typeface="Calibri"/>
            </a:endParaRPr>
          </a:p>
        </p:txBody>
      </p:sp>
      <p:sp>
        <p:nvSpPr>
          <p:cNvPr id="95" name="Google Shape;95;p7"/>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THE SYSTEM</a:t>
            </a:r>
            <a:endParaRPr b="0" i="0" sz="700" u="none" cap="none" strike="noStrike">
              <a:solidFill>
                <a:schemeClr val="dk1"/>
              </a:solidFill>
              <a:latin typeface="Calibri"/>
              <a:ea typeface="Calibri"/>
              <a:cs typeface="Calibri"/>
              <a:sym typeface="Calibri"/>
            </a:endParaRPr>
          </a:p>
        </p:txBody>
      </p:sp>
      <p:sp>
        <p:nvSpPr>
          <p:cNvPr id="99" name="Google Shape;99;p7"/>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5</a:t>
            </a:r>
            <a:endParaRPr b="0" i="0" sz="800" u="none" cap="none" strike="noStrike">
              <a:solidFill>
                <a:schemeClr val="dk1"/>
              </a:solidFill>
              <a:latin typeface="Calibri"/>
              <a:ea typeface="Calibri"/>
              <a:cs typeface="Calibri"/>
              <a:sym typeface="Calibri"/>
            </a:endParaRPr>
          </a:p>
        </p:txBody>
      </p:sp>
      <p:sp>
        <p:nvSpPr>
          <p:cNvPr id="100" name="Google Shape;100;p7"/>
          <p:cNvSpPr/>
          <p:nvPr/>
        </p:nvSpPr>
        <p:spPr>
          <a:xfrm>
            <a:off x="502920" y="896112"/>
            <a:ext cx="2560320" cy="3858768"/>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502920" y="896112"/>
            <a:ext cx="2560320" cy="73152"/>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1280160" y="1078992"/>
            <a:ext cx="1005840" cy="1005840"/>
          </a:xfrm>
          <a:prstGeom prst="ellipse">
            <a:avLst/>
          </a:prstGeom>
          <a:solidFill>
            <a:srgbClr val="F6F8FA"/>
          </a:solidFill>
          <a:ln cap="flat" cmpd="sng" w="12700">
            <a:solidFill>
              <a:srgbClr val="DE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1280160" y="107899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104" name="Google Shape;104;p7"/>
          <p:cNvSpPr/>
          <p:nvPr/>
        </p:nvSpPr>
        <p:spPr>
          <a:xfrm>
            <a:off x="576072" y="2176272"/>
            <a:ext cx="241401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350"/>
              <a:buFont typeface="Open Sans"/>
              <a:buNone/>
            </a:pPr>
            <a:r>
              <a:rPr b="1" i="0" lang="en-US" sz="1350" u="none" cap="none" strike="noStrike">
                <a:solidFill>
                  <a:srgbClr val="007B8A"/>
                </a:solidFill>
                <a:latin typeface="Open Sans"/>
                <a:ea typeface="Open Sans"/>
                <a:cs typeface="Open Sans"/>
                <a:sym typeface="Open Sans"/>
              </a:rPr>
              <a:t>Generative AI</a:t>
            </a:r>
            <a:endParaRPr b="0" i="0" sz="1350" u="none" cap="none" strike="noStrike">
              <a:solidFill>
                <a:schemeClr val="dk1"/>
              </a:solidFill>
              <a:latin typeface="Calibri"/>
              <a:ea typeface="Calibri"/>
              <a:cs typeface="Calibri"/>
              <a:sym typeface="Calibri"/>
            </a:endParaRPr>
          </a:p>
        </p:txBody>
      </p:sp>
      <p:sp>
        <p:nvSpPr>
          <p:cNvPr id="105" name="Google Shape;105;p7"/>
          <p:cNvSpPr/>
          <p:nvPr/>
        </p:nvSpPr>
        <p:spPr>
          <a:xfrm>
            <a:off x="576072" y="2633472"/>
            <a:ext cx="241401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rgbClr val="8A9FB0"/>
                </a:solidFill>
                <a:latin typeface="Open Sans"/>
                <a:ea typeface="Open Sans"/>
                <a:cs typeface="Open Sans"/>
                <a:sym typeface="Open Sans"/>
              </a:rPr>
              <a:t>Claude, ChatGPT, Gemini</a:t>
            </a:r>
            <a:endParaRPr b="0" i="0" sz="950" u="none" cap="none" strike="noStrike">
              <a:solidFill>
                <a:schemeClr val="dk1"/>
              </a:solidFill>
              <a:latin typeface="Calibri"/>
              <a:ea typeface="Calibri"/>
              <a:cs typeface="Calibri"/>
              <a:sym typeface="Calibri"/>
            </a:endParaRPr>
          </a:p>
        </p:txBody>
      </p:sp>
      <p:cxnSp>
        <p:nvCxnSpPr>
          <p:cNvPr id="106" name="Google Shape;106;p7"/>
          <p:cNvCxnSpPr/>
          <p:nvPr/>
        </p:nvCxnSpPr>
        <p:spPr>
          <a:xfrm>
            <a:off x="630936" y="2944368"/>
            <a:ext cx="2304288" cy="0"/>
          </a:xfrm>
          <a:prstGeom prst="straightConnector1">
            <a:avLst/>
          </a:prstGeom>
          <a:noFill/>
          <a:ln cap="flat" cmpd="sng" w="9525">
            <a:solidFill>
              <a:srgbClr val="DEE6EC"/>
            </a:solidFill>
            <a:prstDash val="solid"/>
            <a:round/>
            <a:headEnd len="sm" w="sm" type="none"/>
            <a:tailEnd len="sm" w="sm" type="none"/>
          </a:ln>
        </p:spPr>
      </p:cxnSp>
      <p:sp>
        <p:nvSpPr>
          <p:cNvPr id="107" name="Google Shape;107;p7"/>
          <p:cNvSpPr/>
          <p:nvPr/>
        </p:nvSpPr>
        <p:spPr>
          <a:xfrm>
            <a:off x="594360" y="3035808"/>
            <a:ext cx="2377440" cy="15910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Creates new text from your instructions.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Every output is unique.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Exquisitely sensitive to how you phrase the prompt.</a:t>
            </a:r>
            <a:endParaRPr b="0" i="0" sz="1200" u="none" cap="none" strike="noStrike">
              <a:solidFill>
                <a:schemeClr val="dk1"/>
              </a:solidFill>
              <a:latin typeface="Calibri"/>
              <a:ea typeface="Calibri"/>
              <a:cs typeface="Calibri"/>
              <a:sym typeface="Calibri"/>
            </a:endParaRPr>
          </a:p>
        </p:txBody>
      </p:sp>
      <p:sp>
        <p:nvSpPr>
          <p:cNvPr id="108" name="Google Shape;108;p7"/>
          <p:cNvSpPr/>
          <p:nvPr/>
        </p:nvSpPr>
        <p:spPr>
          <a:xfrm>
            <a:off x="3291840" y="896112"/>
            <a:ext cx="2560320" cy="3858768"/>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3291840" y="896112"/>
            <a:ext cx="2560320" cy="73152"/>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069080" y="1078992"/>
            <a:ext cx="1005840" cy="1005840"/>
          </a:xfrm>
          <a:prstGeom prst="ellipse">
            <a:avLst/>
          </a:prstGeom>
          <a:solidFill>
            <a:srgbClr val="F6F8FA"/>
          </a:solidFill>
          <a:ln cap="flat" cmpd="sng" w="12700">
            <a:solidFill>
              <a:srgbClr val="DE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069080" y="107899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112" name="Google Shape;112;p7"/>
          <p:cNvSpPr/>
          <p:nvPr/>
        </p:nvSpPr>
        <p:spPr>
          <a:xfrm>
            <a:off x="3364992" y="2176272"/>
            <a:ext cx="241401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350"/>
              <a:buFont typeface="Open Sans"/>
              <a:buNone/>
            </a:pPr>
            <a:r>
              <a:rPr b="1" i="0" lang="en-US" sz="1350" u="none" cap="none" strike="noStrike">
                <a:solidFill>
                  <a:srgbClr val="E8831A"/>
                </a:solidFill>
                <a:latin typeface="Open Sans"/>
                <a:ea typeface="Open Sans"/>
                <a:cs typeface="Open Sans"/>
                <a:sym typeface="Open Sans"/>
              </a:rPr>
              <a:t>Productivity Wrappers</a:t>
            </a:r>
            <a:endParaRPr b="0" i="0" sz="1350" u="none" cap="none" strike="noStrike">
              <a:solidFill>
                <a:schemeClr val="dk1"/>
              </a:solidFill>
              <a:latin typeface="Calibri"/>
              <a:ea typeface="Calibri"/>
              <a:cs typeface="Calibri"/>
              <a:sym typeface="Calibri"/>
            </a:endParaRPr>
          </a:p>
        </p:txBody>
      </p:sp>
      <p:sp>
        <p:nvSpPr>
          <p:cNvPr id="113" name="Google Shape;113;p7"/>
          <p:cNvSpPr/>
          <p:nvPr/>
        </p:nvSpPr>
        <p:spPr>
          <a:xfrm>
            <a:off x="3364992" y="2633472"/>
            <a:ext cx="241401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rgbClr val="8A9FB0"/>
                </a:solidFill>
                <a:latin typeface="Open Sans"/>
                <a:ea typeface="Open Sans"/>
                <a:cs typeface="Open Sans"/>
                <a:sym typeface="Open Sans"/>
              </a:rPr>
              <a:t>Grammarly, Canva AI, Turnitin</a:t>
            </a:r>
            <a:endParaRPr b="0" i="0" sz="950" u="none" cap="none" strike="noStrike">
              <a:solidFill>
                <a:schemeClr val="dk1"/>
              </a:solidFill>
              <a:latin typeface="Calibri"/>
              <a:ea typeface="Calibri"/>
              <a:cs typeface="Calibri"/>
              <a:sym typeface="Calibri"/>
            </a:endParaRPr>
          </a:p>
        </p:txBody>
      </p:sp>
      <p:cxnSp>
        <p:nvCxnSpPr>
          <p:cNvPr id="114" name="Google Shape;114;p7"/>
          <p:cNvCxnSpPr/>
          <p:nvPr/>
        </p:nvCxnSpPr>
        <p:spPr>
          <a:xfrm>
            <a:off x="3419856" y="2944368"/>
            <a:ext cx="2304288" cy="0"/>
          </a:xfrm>
          <a:prstGeom prst="straightConnector1">
            <a:avLst/>
          </a:prstGeom>
          <a:noFill/>
          <a:ln cap="flat" cmpd="sng" w="9525">
            <a:solidFill>
              <a:srgbClr val="DEE6EC"/>
            </a:solidFill>
            <a:prstDash val="solid"/>
            <a:round/>
            <a:headEnd len="sm" w="sm" type="none"/>
            <a:tailEnd len="sm" w="sm" type="none"/>
          </a:ln>
        </p:spPr>
      </p:cxnSp>
      <p:sp>
        <p:nvSpPr>
          <p:cNvPr id="115" name="Google Shape;115;p7"/>
          <p:cNvSpPr/>
          <p:nvPr/>
        </p:nvSpPr>
        <p:spPr>
          <a:xfrm>
            <a:off x="3383280" y="3035808"/>
            <a:ext cx="2377440" cy="15910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Enhances work that already exists.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Lower creative variance.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Narrower scope, lower academic risk.</a:t>
            </a:r>
            <a:endParaRPr b="0" i="0" sz="1200" u="none" cap="none" strike="noStrike">
              <a:solidFill>
                <a:schemeClr val="dk1"/>
              </a:solidFill>
              <a:latin typeface="Calibri"/>
              <a:ea typeface="Calibri"/>
              <a:cs typeface="Calibri"/>
              <a:sym typeface="Calibri"/>
            </a:endParaRPr>
          </a:p>
        </p:txBody>
      </p:sp>
      <p:sp>
        <p:nvSpPr>
          <p:cNvPr id="116" name="Google Shape;116;p7"/>
          <p:cNvSpPr/>
          <p:nvPr/>
        </p:nvSpPr>
        <p:spPr>
          <a:xfrm>
            <a:off x="6080760" y="896112"/>
            <a:ext cx="2560320" cy="3858768"/>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6080760" y="896112"/>
            <a:ext cx="2560320" cy="73152"/>
          </a:xfrm>
          <a:prstGeom prst="rect">
            <a:avLst/>
          </a:prstGeom>
          <a:solidFill>
            <a:srgbClr val="1A2B3C"/>
          </a:solidFill>
          <a:ln cap="flat" cmpd="sng" w="1270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6858000" y="1078992"/>
            <a:ext cx="1005840" cy="1005840"/>
          </a:xfrm>
          <a:prstGeom prst="ellipse">
            <a:avLst/>
          </a:prstGeom>
          <a:solidFill>
            <a:srgbClr val="F6F8FA"/>
          </a:solidFill>
          <a:ln cap="flat" cmpd="sng" w="12700">
            <a:solidFill>
              <a:srgbClr val="DE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858000" y="107899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120" name="Google Shape;120;p7"/>
          <p:cNvSpPr/>
          <p:nvPr/>
        </p:nvSpPr>
        <p:spPr>
          <a:xfrm>
            <a:off x="6153912" y="2176272"/>
            <a:ext cx="241401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C"/>
              </a:buClr>
              <a:buSzPts val="1350"/>
              <a:buFont typeface="Open Sans"/>
              <a:buNone/>
            </a:pPr>
            <a:r>
              <a:rPr b="1" i="0" lang="en-US" sz="1350" u="none" cap="none" strike="noStrike">
                <a:solidFill>
                  <a:srgbClr val="1A2B3C"/>
                </a:solidFill>
                <a:latin typeface="Open Sans"/>
                <a:ea typeface="Open Sans"/>
                <a:cs typeface="Open Sans"/>
                <a:sym typeface="Open Sans"/>
              </a:rPr>
              <a:t>Research Assistants</a:t>
            </a:r>
            <a:endParaRPr b="0" i="0" sz="1350" u="none" cap="none" strike="noStrike">
              <a:solidFill>
                <a:schemeClr val="dk1"/>
              </a:solidFill>
              <a:latin typeface="Calibri"/>
              <a:ea typeface="Calibri"/>
              <a:cs typeface="Calibri"/>
              <a:sym typeface="Calibri"/>
            </a:endParaRPr>
          </a:p>
        </p:txBody>
      </p:sp>
      <p:sp>
        <p:nvSpPr>
          <p:cNvPr id="121" name="Google Shape;121;p7"/>
          <p:cNvSpPr/>
          <p:nvPr/>
        </p:nvSpPr>
        <p:spPr>
          <a:xfrm>
            <a:off x="6153912" y="2633472"/>
            <a:ext cx="241401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rgbClr val="8A9FB0"/>
                </a:solidFill>
                <a:latin typeface="Open Sans"/>
                <a:ea typeface="Open Sans"/>
                <a:cs typeface="Open Sans"/>
                <a:sym typeface="Open Sans"/>
              </a:rPr>
              <a:t>Elicit, Consensus, Perplexity</a:t>
            </a:r>
            <a:endParaRPr b="0" i="0" sz="950" u="none" cap="none" strike="noStrike">
              <a:solidFill>
                <a:schemeClr val="dk1"/>
              </a:solidFill>
              <a:latin typeface="Calibri"/>
              <a:ea typeface="Calibri"/>
              <a:cs typeface="Calibri"/>
              <a:sym typeface="Calibri"/>
            </a:endParaRPr>
          </a:p>
        </p:txBody>
      </p:sp>
      <p:cxnSp>
        <p:nvCxnSpPr>
          <p:cNvPr id="122" name="Google Shape;122;p7"/>
          <p:cNvCxnSpPr/>
          <p:nvPr/>
        </p:nvCxnSpPr>
        <p:spPr>
          <a:xfrm>
            <a:off x="6208776" y="2944368"/>
            <a:ext cx="2304288" cy="0"/>
          </a:xfrm>
          <a:prstGeom prst="straightConnector1">
            <a:avLst/>
          </a:prstGeom>
          <a:noFill/>
          <a:ln cap="flat" cmpd="sng" w="9525">
            <a:solidFill>
              <a:srgbClr val="DEE6EC"/>
            </a:solidFill>
            <a:prstDash val="solid"/>
            <a:round/>
            <a:headEnd len="sm" w="sm" type="none"/>
            <a:tailEnd len="sm" w="sm" type="none"/>
          </a:ln>
        </p:spPr>
      </p:cxnSp>
      <p:sp>
        <p:nvSpPr>
          <p:cNvPr id="123" name="Google Shape;123;p7"/>
          <p:cNvSpPr/>
          <p:nvPr/>
        </p:nvSpPr>
        <p:spPr>
          <a:xfrm>
            <a:off x="6172200" y="3035808"/>
            <a:ext cx="2377440" cy="15910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Finds and synthesises sources.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Useful for literature scoping.</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Not reliable for generating citations.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8"/>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What You Can Use Tomorrow</a:t>
            </a:r>
            <a:endParaRPr b="0" i="0" sz="2500" u="none" cap="none" strike="noStrike">
              <a:solidFill>
                <a:schemeClr val="dk1"/>
              </a:solidFill>
              <a:latin typeface="Calibri"/>
              <a:ea typeface="Calibri"/>
              <a:cs typeface="Calibri"/>
              <a:sym typeface="Calibri"/>
            </a:endParaRPr>
          </a:p>
        </p:txBody>
      </p:sp>
      <p:sp>
        <p:nvSpPr>
          <p:cNvPr id="130" name="Google Shape;130;p8"/>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THE SYSTEM</a:t>
            </a:r>
            <a:endParaRPr b="0" i="0" sz="700" u="none" cap="none" strike="noStrike">
              <a:solidFill>
                <a:schemeClr val="dk1"/>
              </a:solidFill>
              <a:latin typeface="Calibri"/>
              <a:ea typeface="Calibri"/>
              <a:cs typeface="Calibri"/>
              <a:sym typeface="Calibri"/>
            </a:endParaRPr>
          </a:p>
        </p:txBody>
      </p:sp>
      <p:sp>
        <p:nvSpPr>
          <p:cNvPr id="134" name="Google Shape;134;p8"/>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6</a:t>
            </a:r>
            <a:endParaRPr b="0" i="0" sz="800" u="none" cap="none" strike="noStrike">
              <a:solidFill>
                <a:schemeClr val="dk1"/>
              </a:solidFill>
              <a:latin typeface="Calibri"/>
              <a:ea typeface="Calibri"/>
              <a:cs typeface="Calibri"/>
              <a:sym typeface="Calibri"/>
            </a:endParaRPr>
          </a:p>
        </p:txBody>
      </p:sp>
      <p:sp>
        <p:nvSpPr>
          <p:cNvPr id="135" name="Google Shape;135;p8"/>
          <p:cNvSpPr/>
          <p:nvPr/>
        </p:nvSpPr>
        <p:spPr>
          <a:xfrm>
            <a:off x="502920" y="960120"/>
            <a:ext cx="8138160" cy="1097280"/>
          </a:xfrm>
          <a:prstGeom prst="rect">
            <a:avLst/>
          </a:prstGeom>
          <a:solidFill>
            <a:srgbClr val="EDFAF3"/>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502920" y="960120"/>
            <a:ext cx="73152" cy="109728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731520" y="1051560"/>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300"/>
              <a:buFont typeface="Open Sans"/>
              <a:buNone/>
            </a:pPr>
            <a:r>
              <a:rPr b="1" i="0" lang="en-US" sz="1300" u="none" cap="none" strike="noStrike">
                <a:solidFill>
                  <a:srgbClr val="1A7A4A"/>
                </a:solidFill>
                <a:latin typeface="Open Sans"/>
                <a:ea typeface="Open Sans"/>
                <a:cs typeface="Open Sans"/>
                <a:sym typeface="Open Sans"/>
              </a:rPr>
              <a:t>✅  Free, No VPN Required</a:t>
            </a:r>
            <a:endParaRPr b="0" i="0" sz="1300" u="none" cap="none" strike="noStrike">
              <a:solidFill>
                <a:schemeClr val="dk1"/>
              </a:solidFill>
              <a:latin typeface="Calibri"/>
              <a:ea typeface="Calibri"/>
              <a:cs typeface="Calibri"/>
              <a:sym typeface="Calibri"/>
            </a:endParaRPr>
          </a:p>
        </p:txBody>
      </p:sp>
      <p:sp>
        <p:nvSpPr>
          <p:cNvPr id="138" name="Google Shape;138;p8"/>
          <p:cNvSpPr/>
          <p:nvPr/>
        </p:nvSpPr>
        <p:spPr>
          <a:xfrm>
            <a:off x="731520" y="1435608"/>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100"/>
              <a:buFont typeface="Open Sans"/>
              <a:buNone/>
            </a:pPr>
            <a:r>
              <a:rPr lang="en-US" sz="1100">
                <a:solidFill>
                  <a:srgbClr val="1A2535"/>
                </a:solidFill>
                <a:latin typeface="Open Sans"/>
                <a:ea typeface="Open Sans"/>
                <a:cs typeface="Open Sans"/>
                <a:sym typeface="Open Sans"/>
              </a:rPr>
              <a:t>ChatGPT	</a:t>
            </a:r>
            <a:r>
              <a:rPr b="0" i="0" lang="en-US" sz="1100" u="none" cap="none" strike="noStrike">
                <a:solidFill>
                  <a:srgbClr val="1A2535"/>
                </a:solidFill>
                <a:latin typeface="Open Sans"/>
                <a:ea typeface="Open Sans"/>
                <a:cs typeface="Open Sans"/>
                <a:sym typeface="Open Sans"/>
              </a:rPr>
              <a:t>Claude.ai    Gemini    Perplexity    Canva AI</a:t>
            </a:r>
            <a:endParaRPr b="0" i="0" sz="1100" u="none" cap="none" strike="noStrike">
              <a:solidFill>
                <a:schemeClr val="dk1"/>
              </a:solidFill>
              <a:latin typeface="Calibri"/>
              <a:ea typeface="Calibri"/>
              <a:cs typeface="Calibri"/>
              <a:sym typeface="Calibri"/>
            </a:endParaRPr>
          </a:p>
        </p:txBody>
      </p:sp>
      <p:sp>
        <p:nvSpPr>
          <p:cNvPr id="139" name="Google Shape;139;p8"/>
          <p:cNvSpPr/>
          <p:nvPr/>
        </p:nvSpPr>
        <p:spPr>
          <a:xfrm>
            <a:off x="5577840" y="1216152"/>
            <a:ext cx="29260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70"/>
              </a:buClr>
              <a:buSzPts val="1000"/>
              <a:buFont typeface="Open Sans"/>
              <a:buNone/>
            </a:pPr>
            <a:r>
              <a:rPr b="0" i="1" lang="en-US" sz="1000" u="none" cap="none" strike="noStrike">
                <a:solidFill>
                  <a:srgbClr val="4A5E70"/>
                </a:solidFill>
                <a:latin typeface="Open Sans"/>
                <a:ea typeface="Open Sans"/>
                <a:cs typeface="Open Sans"/>
                <a:sym typeface="Open Sans"/>
              </a:rPr>
              <a:t>Works on any Sri Lankan broadband or Wi-Fi connection</a:t>
            </a:r>
            <a:endParaRPr b="0" i="0" sz="1000" u="none" cap="none" strike="noStrike">
              <a:solidFill>
                <a:schemeClr val="dk1"/>
              </a:solidFill>
              <a:latin typeface="Calibri"/>
              <a:ea typeface="Calibri"/>
              <a:cs typeface="Calibri"/>
              <a:sym typeface="Calibri"/>
            </a:endParaRPr>
          </a:p>
        </p:txBody>
      </p:sp>
      <p:sp>
        <p:nvSpPr>
          <p:cNvPr id="140" name="Google Shape;140;p8"/>
          <p:cNvSpPr/>
          <p:nvPr/>
        </p:nvSpPr>
        <p:spPr>
          <a:xfrm>
            <a:off x="502920" y="2194560"/>
            <a:ext cx="8138160" cy="1097280"/>
          </a:xfrm>
          <a:prstGeom prst="rect">
            <a:avLst/>
          </a:prstGeom>
          <a:solidFill>
            <a:srgbClr val="FDF6E8"/>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502920" y="2194560"/>
            <a:ext cx="73152" cy="1097280"/>
          </a:xfrm>
          <a:prstGeom prst="rect">
            <a:avLst/>
          </a:prstGeom>
          <a:solidFill>
            <a:srgbClr val="7A5A1A"/>
          </a:solidFill>
          <a:ln cap="flat" cmpd="sng" w="12700">
            <a:solidFill>
              <a:srgbClr val="7A5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731520" y="2286000"/>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A1A"/>
              </a:buClr>
              <a:buSzPts val="1300"/>
              <a:buFont typeface="Open Sans"/>
              <a:buNone/>
            </a:pPr>
            <a:r>
              <a:rPr b="1" i="0" lang="en-US" sz="1300" u="none" cap="none" strike="noStrike">
                <a:solidFill>
                  <a:srgbClr val="7A5A1A"/>
                </a:solidFill>
                <a:latin typeface="Open Sans"/>
                <a:ea typeface="Open Sans"/>
                <a:cs typeface="Open Sans"/>
                <a:sym typeface="Open Sans"/>
              </a:rPr>
              <a:t>🔑  Institutional Licence Needed</a:t>
            </a:r>
            <a:endParaRPr b="0" i="0" sz="1300" u="none" cap="none" strike="noStrike">
              <a:solidFill>
                <a:schemeClr val="dk1"/>
              </a:solidFill>
              <a:latin typeface="Calibri"/>
              <a:ea typeface="Calibri"/>
              <a:cs typeface="Calibri"/>
              <a:sym typeface="Calibri"/>
            </a:endParaRPr>
          </a:p>
        </p:txBody>
      </p:sp>
      <p:sp>
        <p:nvSpPr>
          <p:cNvPr id="143" name="Google Shape;143;p8"/>
          <p:cNvSpPr/>
          <p:nvPr/>
        </p:nvSpPr>
        <p:spPr>
          <a:xfrm>
            <a:off x="731520" y="2670048"/>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100"/>
              <a:buFont typeface="Open Sans"/>
              <a:buNone/>
            </a:pPr>
            <a:r>
              <a:rPr b="0" i="0" lang="en-US" sz="1100" u="none" cap="none" strike="noStrike">
                <a:solidFill>
                  <a:srgbClr val="1A2535"/>
                </a:solidFill>
                <a:latin typeface="Open Sans"/>
                <a:ea typeface="Open Sans"/>
                <a:cs typeface="Open Sans"/>
                <a:sym typeface="Open Sans"/>
              </a:rPr>
              <a:t>Turnitin AI features    ChatGPT Team    Microsoft Copilot</a:t>
            </a:r>
            <a:endParaRPr b="0" i="0" sz="1100" u="none" cap="none" strike="noStrike">
              <a:solidFill>
                <a:schemeClr val="dk1"/>
              </a:solidFill>
              <a:latin typeface="Calibri"/>
              <a:ea typeface="Calibri"/>
              <a:cs typeface="Calibri"/>
              <a:sym typeface="Calibri"/>
            </a:endParaRPr>
          </a:p>
        </p:txBody>
      </p:sp>
      <p:sp>
        <p:nvSpPr>
          <p:cNvPr id="144" name="Google Shape;144;p8"/>
          <p:cNvSpPr/>
          <p:nvPr/>
        </p:nvSpPr>
        <p:spPr>
          <a:xfrm>
            <a:off x="5577840" y="2450592"/>
            <a:ext cx="29260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70"/>
              </a:buClr>
              <a:buSzPts val="1000"/>
              <a:buFont typeface="Open Sans"/>
              <a:buNone/>
            </a:pPr>
            <a:r>
              <a:rPr b="0" i="1" lang="en-US" sz="1000" u="none" cap="none" strike="noStrike">
                <a:solidFill>
                  <a:srgbClr val="4A5E70"/>
                </a:solidFill>
                <a:latin typeface="Open Sans"/>
                <a:ea typeface="Open Sans"/>
                <a:cs typeface="Open Sans"/>
                <a:sym typeface="Open Sans"/>
              </a:rPr>
              <a:t>Ask your library whether NIBM holds an active seat</a:t>
            </a:r>
            <a:endParaRPr b="0" i="0" sz="1000" u="none" cap="none" strike="noStrike">
              <a:solidFill>
                <a:schemeClr val="dk1"/>
              </a:solidFill>
              <a:latin typeface="Calibri"/>
              <a:ea typeface="Calibri"/>
              <a:cs typeface="Calibri"/>
              <a:sym typeface="Calibri"/>
            </a:endParaRPr>
          </a:p>
        </p:txBody>
      </p:sp>
      <p:sp>
        <p:nvSpPr>
          <p:cNvPr id="145" name="Google Shape;145;p8"/>
          <p:cNvSpPr/>
          <p:nvPr/>
        </p:nvSpPr>
        <p:spPr>
          <a:xfrm>
            <a:off x="502920" y="3429000"/>
            <a:ext cx="8138160" cy="1097280"/>
          </a:xfrm>
          <a:prstGeom prst="rect">
            <a:avLst/>
          </a:prstGeom>
          <a:solidFill>
            <a:srgbClr val="FDF0F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502920" y="3429000"/>
            <a:ext cx="73152" cy="1097280"/>
          </a:xfrm>
          <a:prstGeom prst="rect">
            <a:avLst/>
          </a:prstGeom>
          <a:solidFill>
            <a:srgbClr val="8A1A1A"/>
          </a:solidFill>
          <a:ln cap="flat" cmpd="sng" w="12700">
            <a:solidFill>
              <a:srgbClr val="8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731520" y="3520440"/>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1A1A"/>
              </a:buClr>
              <a:buSzPts val="1300"/>
              <a:buFont typeface="Open Sans"/>
              <a:buNone/>
            </a:pPr>
            <a:r>
              <a:rPr b="1" i="0" lang="en-US" sz="1300" u="none" cap="none" strike="noStrike">
                <a:solidFill>
                  <a:srgbClr val="8A1A1A"/>
                </a:solidFill>
                <a:latin typeface="Open Sans"/>
                <a:ea typeface="Open Sans"/>
                <a:cs typeface="Open Sans"/>
                <a:sym typeface="Open Sans"/>
              </a:rPr>
              <a:t>⚠️  Mobile Data Caution</a:t>
            </a:r>
            <a:endParaRPr b="0" i="0" sz="1300" u="none" cap="none" strike="noStrike">
              <a:solidFill>
                <a:schemeClr val="dk1"/>
              </a:solidFill>
              <a:latin typeface="Calibri"/>
              <a:ea typeface="Calibri"/>
              <a:cs typeface="Calibri"/>
              <a:sym typeface="Calibri"/>
            </a:endParaRPr>
          </a:p>
        </p:txBody>
      </p:sp>
      <p:sp>
        <p:nvSpPr>
          <p:cNvPr id="148" name="Google Shape;148;p8"/>
          <p:cNvSpPr/>
          <p:nvPr/>
        </p:nvSpPr>
        <p:spPr>
          <a:xfrm>
            <a:off x="731520" y="3904488"/>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100"/>
              <a:buFont typeface="Open Sans"/>
              <a:buNone/>
            </a:pPr>
            <a:r>
              <a:rPr b="0" i="0" lang="en-US" sz="1100" u="none" cap="none" strike="noStrike">
                <a:solidFill>
                  <a:srgbClr val="1A2535"/>
                </a:solidFill>
                <a:latin typeface="Open Sans"/>
                <a:ea typeface="Open Sans"/>
                <a:cs typeface="Open Sans"/>
                <a:sym typeface="Open Sans"/>
              </a:rPr>
              <a:t>Any LLM on 4G or prepaid data</a:t>
            </a:r>
            <a:endParaRPr b="0" i="0" sz="1100" u="none" cap="none" strike="noStrike">
              <a:solidFill>
                <a:schemeClr val="dk1"/>
              </a:solidFill>
              <a:latin typeface="Calibri"/>
              <a:ea typeface="Calibri"/>
              <a:cs typeface="Calibri"/>
              <a:sym typeface="Calibri"/>
            </a:endParaRPr>
          </a:p>
        </p:txBody>
      </p:sp>
      <p:sp>
        <p:nvSpPr>
          <p:cNvPr id="149" name="Google Shape;149;p8"/>
          <p:cNvSpPr/>
          <p:nvPr/>
        </p:nvSpPr>
        <p:spPr>
          <a:xfrm>
            <a:off x="5577840" y="3685032"/>
            <a:ext cx="29260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70"/>
              </a:buClr>
              <a:buSzPts val="1000"/>
              <a:buFont typeface="Open Sans"/>
              <a:buNone/>
            </a:pPr>
            <a:r>
              <a:rPr b="0" i="1" lang="en-US" sz="1000" u="none" cap="none" strike="noStrike">
                <a:solidFill>
                  <a:srgbClr val="4A5E70"/>
                </a:solidFill>
                <a:latin typeface="Open Sans"/>
                <a:ea typeface="Open Sans"/>
                <a:cs typeface="Open Sans"/>
                <a:sym typeface="Open Sans"/>
              </a:rPr>
              <a:t>Long responses stream heavily -- use Wi-Fi for live demos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9"/>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Not a Better Search Engine</a:t>
            </a:r>
            <a:endParaRPr b="0" i="0" sz="2500" u="none" cap="none" strike="noStrike">
              <a:solidFill>
                <a:schemeClr val="dk1"/>
              </a:solidFill>
              <a:latin typeface="Calibri"/>
              <a:ea typeface="Calibri"/>
              <a:cs typeface="Calibri"/>
              <a:sym typeface="Calibri"/>
            </a:endParaRPr>
          </a:p>
        </p:txBody>
      </p:sp>
      <p:sp>
        <p:nvSpPr>
          <p:cNvPr id="156" name="Google Shape;156;p9"/>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THE SYSTEM</a:t>
            </a:r>
            <a:endParaRPr b="0" i="0" sz="700" u="none" cap="none" strike="noStrike">
              <a:solidFill>
                <a:schemeClr val="dk1"/>
              </a:solidFill>
              <a:latin typeface="Calibri"/>
              <a:ea typeface="Calibri"/>
              <a:cs typeface="Calibri"/>
              <a:sym typeface="Calibri"/>
            </a:endParaRPr>
          </a:p>
        </p:txBody>
      </p:sp>
      <p:sp>
        <p:nvSpPr>
          <p:cNvPr id="160" name="Google Shape;160;p9"/>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7</a:t>
            </a:r>
            <a:endParaRPr b="0" i="0" sz="800" u="none" cap="none" strike="noStrike">
              <a:solidFill>
                <a:schemeClr val="dk1"/>
              </a:solidFill>
              <a:latin typeface="Calibri"/>
              <a:ea typeface="Calibri"/>
              <a:cs typeface="Calibri"/>
              <a:sym typeface="Calibri"/>
            </a:endParaRPr>
          </a:p>
        </p:txBody>
      </p:sp>
      <p:sp>
        <p:nvSpPr>
          <p:cNvPr id="161" name="Google Shape;161;p9"/>
          <p:cNvSpPr/>
          <p:nvPr/>
        </p:nvSpPr>
        <p:spPr>
          <a:xfrm>
            <a:off x="502920" y="932688"/>
            <a:ext cx="3703320" cy="3017520"/>
          </a:xfrm>
          <a:prstGeom prst="rect">
            <a:avLst/>
          </a:prstGeom>
          <a:solidFill>
            <a:srgbClr val="F4F5F7"/>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502920" y="1005840"/>
            <a:ext cx="3703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4400"/>
              <a:buFont typeface="Quattrocento Sans"/>
              <a:buNone/>
            </a:pPr>
            <a:r>
              <a:rPr b="0" i="0" lang="en-US" sz="4400" u="none" cap="none" strike="noStrike">
                <a:solidFill>
                  <a:srgbClr val="000000"/>
                </a:solidFill>
                <a:latin typeface="Quattrocento Sans"/>
                <a:ea typeface="Quattrocento Sans"/>
                <a:cs typeface="Quattrocento Sans"/>
                <a:sym typeface="Quattrocento Sans"/>
              </a:rPr>
              <a:t>🔍</a:t>
            </a:r>
            <a:endParaRPr b="0" i="0" sz="4400" u="none" cap="none" strike="noStrike">
              <a:solidFill>
                <a:schemeClr val="dk1"/>
              </a:solidFill>
              <a:latin typeface="Calibri"/>
              <a:ea typeface="Calibri"/>
              <a:cs typeface="Calibri"/>
              <a:sym typeface="Calibri"/>
            </a:endParaRPr>
          </a:p>
        </p:txBody>
      </p:sp>
      <p:sp>
        <p:nvSpPr>
          <p:cNvPr id="163" name="Google Shape;163;p9"/>
          <p:cNvSpPr/>
          <p:nvPr/>
        </p:nvSpPr>
        <p:spPr>
          <a:xfrm>
            <a:off x="502920" y="1810512"/>
            <a:ext cx="37033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E70"/>
              </a:buClr>
              <a:buSzPts val="1700"/>
              <a:buFont typeface="Open Sans"/>
              <a:buNone/>
            </a:pPr>
            <a:r>
              <a:rPr b="1" i="0" lang="en-US" sz="1700" u="none" cap="none" strike="noStrike">
                <a:solidFill>
                  <a:srgbClr val="4A5E70"/>
                </a:solidFill>
                <a:latin typeface="Open Sans"/>
                <a:ea typeface="Open Sans"/>
                <a:cs typeface="Open Sans"/>
                <a:sym typeface="Open Sans"/>
              </a:rPr>
              <a:t>SEARCH</a:t>
            </a:r>
            <a:endParaRPr b="0" i="0" sz="1700" u="none" cap="none" strike="noStrike">
              <a:solidFill>
                <a:schemeClr val="dk1"/>
              </a:solidFill>
              <a:latin typeface="Calibri"/>
              <a:ea typeface="Calibri"/>
              <a:cs typeface="Calibri"/>
              <a:sym typeface="Calibri"/>
            </a:endParaRPr>
          </a:p>
        </p:txBody>
      </p:sp>
      <p:sp>
        <p:nvSpPr>
          <p:cNvPr id="164" name="Google Shape;164;p9"/>
          <p:cNvSpPr/>
          <p:nvPr/>
        </p:nvSpPr>
        <p:spPr>
          <a:xfrm>
            <a:off x="658368" y="2249424"/>
            <a:ext cx="3401568"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Google finds a document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that already exists.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It retrieves.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Phrasing changes the ranking.</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Not the answer itself.</a:t>
            </a:r>
            <a:endParaRPr b="0" i="0" sz="1250" u="none" cap="none" strike="noStrike">
              <a:solidFill>
                <a:schemeClr val="dk1"/>
              </a:solidFill>
              <a:latin typeface="Calibri"/>
              <a:ea typeface="Calibri"/>
              <a:cs typeface="Calibri"/>
              <a:sym typeface="Calibri"/>
            </a:endParaRPr>
          </a:p>
        </p:txBody>
      </p:sp>
      <p:sp>
        <p:nvSpPr>
          <p:cNvPr id="165" name="Google Shape;165;p9"/>
          <p:cNvSpPr/>
          <p:nvPr/>
        </p:nvSpPr>
        <p:spPr>
          <a:xfrm>
            <a:off x="4178808" y="1938528"/>
            <a:ext cx="786384" cy="786384"/>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4178808" y="1938528"/>
            <a:ext cx="786384"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Open Sans"/>
              <a:buNone/>
            </a:pPr>
            <a:r>
              <a:rPr b="1" i="0" lang="en-US" sz="1300" u="none" cap="none" strike="noStrike">
                <a:solidFill>
                  <a:srgbClr val="FFFFFF"/>
                </a:solidFill>
                <a:latin typeface="Open Sans"/>
                <a:ea typeface="Open Sans"/>
                <a:cs typeface="Open Sans"/>
                <a:sym typeface="Open Sans"/>
              </a:rPr>
              <a:t>VS</a:t>
            </a:r>
            <a:endParaRPr b="0" i="0" sz="1300" u="none" cap="none" strike="noStrike">
              <a:solidFill>
                <a:schemeClr val="dk1"/>
              </a:solidFill>
              <a:latin typeface="Calibri"/>
              <a:ea typeface="Calibri"/>
              <a:cs typeface="Calibri"/>
              <a:sym typeface="Calibri"/>
            </a:endParaRPr>
          </a:p>
        </p:txBody>
      </p:sp>
      <p:sp>
        <p:nvSpPr>
          <p:cNvPr id="167" name="Google Shape;167;p9"/>
          <p:cNvSpPr/>
          <p:nvPr/>
        </p:nvSpPr>
        <p:spPr>
          <a:xfrm>
            <a:off x="4937760" y="932688"/>
            <a:ext cx="3703320" cy="3017520"/>
          </a:xfrm>
          <a:prstGeom prst="rect">
            <a:avLst/>
          </a:prstGeom>
          <a:solidFill>
            <a:srgbClr val="E0F4F6"/>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937760" y="1005840"/>
            <a:ext cx="3703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4400"/>
              <a:buFont typeface="Quattrocento Sans"/>
              <a:buNone/>
            </a:pPr>
            <a:r>
              <a:rPr b="0" i="0" lang="en-US" sz="4400" u="none" cap="none" strike="noStrike">
                <a:solidFill>
                  <a:srgbClr val="000000"/>
                </a:solidFill>
                <a:latin typeface="Quattrocento Sans"/>
                <a:ea typeface="Quattrocento Sans"/>
                <a:cs typeface="Quattrocento Sans"/>
                <a:sym typeface="Quattrocento Sans"/>
              </a:rPr>
              <a:t>✨</a:t>
            </a:r>
            <a:endParaRPr b="0" i="0" sz="4400" u="none" cap="none" strike="noStrike">
              <a:solidFill>
                <a:schemeClr val="dk1"/>
              </a:solidFill>
              <a:latin typeface="Calibri"/>
              <a:ea typeface="Calibri"/>
              <a:cs typeface="Calibri"/>
              <a:sym typeface="Calibri"/>
            </a:endParaRPr>
          </a:p>
        </p:txBody>
      </p:sp>
      <p:sp>
        <p:nvSpPr>
          <p:cNvPr id="169" name="Google Shape;169;p9"/>
          <p:cNvSpPr/>
          <p:nvPr/>
        </p:nvSpPr>
        <p:spPr>
          <a:xfrm>
            <a:off x="4937760" y="1810512"/>
            <a:ext cx="37033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700"/>
              <a:buFont typeface="Open Sans"/>
              <a:buNone/>
            </a:pPr>
            <a:r>
              <a:rPr b="1" i="0" lang="en-US" sz="1700" u="none" cap="none" strike="noStrike">
                <a:solidFill>
                  <a:srgbClr val="007B8A"/>
                </a:solidFill>
                <a:latin typeface="Open Sans"/>
                <a:ea typeface="Open Sans"/>
                <a:cs typeface="Open Sans"/>
                <a:sym typeface="Open Sans"/>
              </a:rPr>
              <a:t>GENERATE</a:t>
            </a:r>
            <a:endParaRPr b="0" i="0" sz="1700" u="none" cap="none" strike="noStrike">
              <a:solidFill>
                <a:schemeClr val="dk1"/>
              </a:solidFill>
              <a:latin typeface="Calibri"/>
              <a:ea typeface="Calibri"/>
              <a:cs typeface="Calibri"/>
              <a:sym typeface="Calibri"/>
            </a:endParaRPr>
          </a:p>
        </p:txBody>
      </p:sp>
      <p:sp>
        <p:nvSpPr>
          <p:cNvPr id="170" name="Google Shape;170;p9"/>
          <p:cNvSpPr/>
          <p:nvPr/>
        </p:nvSpPr>
        <p:spPr>
          <a:xfrm>
            <a:off x="5102352" y="2249424"/>
            <a:ext cx="3401568"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Claude writes a new document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from scratch every time.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It generates.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Phrasing changes the output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535"/>
              </a:buClr>
              <a:buSzPts val="1250"/>
              <a:buFont typeface="Open Sans"/>
              <a:buNone/>
            </a:pPr>
            <a:r>
              <a:rPr b="0" i="0" lang="en-US" sz="1250" u="none" cap="none" strike="noStrike">
                <a:solidFill>
                  <a:srgbClr val="1A2535"/>
                </a:solidFill>
                <a:latin typeface="Open Sans"/>
                <a:ea typeface="Open Sans"/>
                <a:cs typeface="Open Sans"/>
                <a:sym typeface="Open Sans"/>
              </a:rPr>
              <a:t>fundamentally.</a:t>
            </a:r>
            <a:endParaRPr b="0" i="0" sz="1250" u="none" cap="none" strike="noStrike">
              <a:solidFill>
                <a:schemeClr val="dk1"/>
              </a:solidFill>
              <a:latin typeface="Calibri"/>
              <a:ea typeface="Calibri"/>
              <a:cs typeface="Calibri"/>
              <a:sym typeface="Calibri"/>
            </a:endParaRPr>
          </a:p>
        </p:txBody>
      </p:sp>
      <p:sp>
        <p:nvSpPr>
          <p:cNvPr id="171" name="Google Shape;171;p9"/>
          <p:cNvSpPr/>
          <p:nvPr/>
        </p:nvSpPr>
        <p:spPr>
          <a:xfrm>
            <a:off x="502920" y="4050792"/>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350"/>
              <a:buFont typeface="Open Sans"/>
              <a:buNone/>
            </a:pPr>
            <a:r>
              <a:rPr b="1" i="1" lang="en-US" sz="1350" u="none" cap="none" strike="noStrike">
                <a:solidFill>
                  <a:srgbClr val="007B8A"/>
                </a:solidFill>
                <a:latin typeface="Open Sans"/>
                <a:ea typeface="Open Sans"/>
                <a:cs typeface="Open Sans"/>
                <a:sym typeface="Open Sans"/>
              </a:rPr>
              <a:t>Retrieval is robust to phrasing.  Generation is exquisitely sensitive to it.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7B8A"/>
        </a:solidFill>
      </p:bgPr>
    </p:bg>
    <p:spTree>
      <p:nvGrpSpPr>
        <p:cNvPr id="176" name="Shape 176"/>
        <p:cNvGrpSpPr/>
        <p:nvPr/>
      </p:nvGrpSpPr>
      <p:grpSpPr>
        <a:xfrm>
          <a:off x="0" y="0"/>
          <a:ext cx="0" cy="0"/>
          <a:chOff x="0" y="0"/>
          <a:chExt cx="0" cy="0"/>
        </a:xfrm>
      </p:grpSpPr>
      <p:sp>
        <p:nvSpPr>
          <p:cNvPr id="177" name="Google Shape;177;p10"/>
          <p:cNvSpPr/>
          <p:nvPr/>
        </p:nvSpPr>
        <p:spPr>
          <a:xfrm>
            <a:off x="0" y="256032"/>
            <a:ext cx="914400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5600"/>
              <a:buFont typeface="Quattrocento Sans"/>
              <a:buNone/>
            </a:pPr>
            <a:r>
              <a:rPr b="0" i="0" lang="en-US" sz="5600" u="none" cap="none" strike="noStrike">
                <a:solidFill>
                  <a:srgbClr val="000000"/>
                </a:solidFill>
                <a:latin typeface="Quattrocento Sans"/>
                <a:ea typeface="Quattrocento Sans"/>
                <a:cs typeface="Quattrocento Sans"/>
                <a:sym typeface="Quattrocento Sans"/>
              </a:rPr>
              <a:t>⏱</a:t>
            </a:r>
            <a:endParaRPr b="0" i="0" sz="5600" u="none" cap="none" strike="noStrike">
              <a:solidFill>
                <a:schemeClr val="dk1"/>
              </a:solidFill>
              <a:latin typeface="Calibri"/>
              <a:ea typeface="Calibri"/>
              <a:cs typeface="Calibri"/>
              <a:sym typeface="Calibri"/>
            </a:endParaRPr>
          </a:p>
        </p:txBody>
      </p:sp>
      <p:sp>
        <p:nvSpPr>
          <p:cNvPr id="178" name="Google Shape;178;p10"/>
          <p:cNvSpPr/>
          <p:nvPr/>
        </p:nvSpPr>
        <p:spPr>
          <a:xfrm>
            <a:off x="0" y="1234440"/>
            <a:ext cx="91440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800"/>
              <a:buFont typeface="Open Sans"/>
              <a:buNone/>
            </a:pPr>
            <a:r>
              <a:rPr b="1" i="0" lang="en-US" sz="3800" u="none" cap="none" strike="noStrike">
                <a:solidFill>
                  <a:srgbClr val="FFFFFF"/>
                </a:solidFill>
                <a:latin typeface="Open Sans"/>
                <a:ea typeface="Open Sans"/>
                <a:cs typeface="Open Sans"/>
                <a:sym typeface="Open Sans"/>
              </a:rPr>
              <a:t>4 MINUTES</a:t>
            </a:r>
            <a:endParaRPr b="0" i="0" sz="3800" u="none" cap="none" strike="noStrike">
              <a:solidFill>
                <a:schemeClr val="dk1"/>
              </a:solidFill>
              <a:latin typeface="Calibri"/>
              <a:ea typeface="Calibri"/>
              <a:cs typeface="Calibri"/>
              <a:sym typeface="Calibri"/>
            </a:endParaRPr>
          </a:p>
        </p:txBody>
      </p:sp>
      <p:sp>
        <p:nvSpPr>
          <p:cNvPr id="179" name="Google Shape;179;p10"/>
          <p:cNvSpPr/>
          <p:nvPr/>
        </p:nvSpPr>
        <p:spPr>
          <a:xfrm>
            <a:off x="1188720" y="2029968"/>
            <a:ext cx="6766560" cy="1078992"/>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1371600" y="2084832"/>
            <a:ext cx="640080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535"/>
              </a:buClr>
              <a:buSzPts val="1500"/>
              <a:buFont typeface="Open Sans"/>
              <a:buNone/>
            </a:pPr>
            <a:r>
              <a:rPr b="0" i="0" lang="en-US" sz="1500" u="none" cap="none" strike="noStrike">
                <a:solidFill>
                  <a:srgbClr val="1A2535"/>
                </a:solidFill>
                <a:latin typeface="Open Sans"/>
                <a:ea typeface="Open Sans"/>
                <a:cs typeface="Open Sans"/>
                <a:sym typeface="Open Sans"/>
              </a:rPr>
              <a:t>Ask the AI to explain a topic from your own subject</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535"/>
              </a:buClr>
              <a:buSzPts val="1500"/>
              <a:buFont typeface="Open Sans"/>
              <a:buNone/>
            </a:pPr>
            <a:r>
              <a:rPr b="0" i="0" lang="en-US" sz="1500" u="none" cap="none" strike="noStrike">
                <a:solidFill>
                  <a:srgbClr val="1A2535"/>
                </a:solidFill>
                <a:latin typeface="Open Sans"/>
                <a:ea typeface="Open Sans"/>
                <a:cs typeface="Open Sans"/>
                <a:sym typeface="Open Sans"/>
              </a:rPr>
              <a:t>to a bright 18-year-old who has never studied it.</a:t>
            </a:r>
            <a:endParaRPr b="0" i="0" sz="1500" u="none" cap="none" strike="noStrike">
              <a:solidFill>
                <a:schemeClr val="dk1"/>
              </a:solidFill>
              <a:latin typeface="Calibri"/>
              <a:ea typeface="Calibri"/>
              <a:cs typeface="Calibri"/>
              <a:sym typeface="Calibri"/>
            </a:endParaRPr>
          </a:p>
        </p:txBody>
      </p:sp>
      <p:sp>
        <p:nvSpPr>
          <p:cNvPr id="181" name="Google Shape;181;p10"/>
          <p:cNvSpPr/>
          <p:nvPr/>
        </p:nvSpPr>
        <p:spPr>
          <a:xfrm>
            <a:off x="1581912" y="3273552"/>
            <a:ext cx="457200" cy="457200"/>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1581912" y="32735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Open Sans"/>
              <a:buNone/>
            </a:pPr>
            <a:r>
              <a:rPr b="1" i="0" lang="en-US" sz="1300" u="none" cap="none" strike="noStrike">
                <a:solidFill>
                  <a:srgbClr val="FFFFFF"/>
                </a:solidFill>
                <a:latin typeface="Open Sans"/>
                <a:ea typeface="Open Sans"/>
                <a:cs typeface="Open Sans"/>
                <a:sym typeface="Open Sans"/>
              </a:rPr>
              <a:t>1</a:t>
            </a:r>
            <a:endParaRPr b="0" i="0" sz="1300" u="none" cap="none" strike="noStrike">
              <a:solidFill>
                <a:schemeClr val="dk1"/>
              </a:solidFill>
              <a:latin typeface="Calibri"/>
              <a:ea typeface="Calibri"/>
              <a:cs typeface="Calibri"/>
              <a:sym typeface="Calibri"/>
            </a:endParaRPr>
          </a:p>
        </p:txBody>
      </p:sp>
      <p:sp>
        <p:nvSpPr>
          <p:cNvPr id="183" name="Google Shape;183;p10"/>
          <p:cNvSpPr/>
          <p:nvPr/>
        </p:nvSpPr>
        <p:spPr>
          <a:xfrm>
            <a:off x="914400" y="3794760"/>
            <a:ext cx="178308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Open Claude.ai</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or Gemini</a:t>
            </a:r>
            <a:endParaRPr b="0" i="0" sz="1050" u="none" cap="none" strike="noStrike">
              <a:solidFill>
                <a:schemeClr val="dk1"/>
              </a:solidFill>
              <a:latin typeface="Calibri"/>
              <a:ea typeface="Calibri"/>
              <a:cs typeface="Calibri"/>
              <a:sym typeface="Calibri"/>
            </a:endParaRPr>
          </a:p>
        </p:txBody>
      </p:sp>
      <p:sp>
        <p:nvSpPr>
          <p:cNvPr id="184" name="Google Shape;184;p10"/>
          <p:cNvSpPr/>
          <p:nvPr/>
        </p:nvSpPr>
        <p:spPr>
          <a:xfrm>
            <a:off x="4233672" y="3273552"/>
            <a:ext cx="457200" cy="457200"/>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4233672" y="32735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Open Sans"/>
              <a:buNone/>
            </a:pPr>
            <a:r>
              <a:rPr b="1" i="0" lang="en-US" sz="1300" u="none" cap="none" strike="noStrike">
                <a:solidFill>
                  <a:srgbClr val="FFFFFF"/>
                </a:solidFill>
                <a:latin typeface="Open Sans"/>
                <a:ea typeface="Open Sans"/>
                <a:cs typeface="Open Sans"/>
                <a:sym typeface="Open Sans"/>
              </a:rPr>
              <a:t>2</a:t>
            </a:r>
            <a:endParaRPr b="0" i="0" sz="1300" u="none" cap="none" strike="noStrike">
              <a:solidFill>
                <a:schemeClr val="dk1"/>
              </a:solidFill>
              <a:latin typeface="Calibri"/>
              <a:ea typeface="Calibri"/>
              <a:cs typeface="Calibri"/>
              <a:sym typeface="Calibri"/>
            </a:endParaRPr>
          </a:p>
        </p:txBody>
      </p:sp>
      <p:sp>
        <p:nvSpPr>
          <p:cNvPr id="186" name="Google Shape;186;p10"/>
          <p:cNvSpPr/>
          <p:nvPr/>
        </p:nvSpPr>
        <p:spPr>
          <a:xfrm>
            <a:off x="3566160" y="3794760"/>
            <a:ext cx="178308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Type your prompt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exactly as it comes</a:t>
            </a:r>
            <a:endParaRPr b="0" i="0" sz="1050" u="none" cap="none" strike="noStrike">
              <a:solidFill>
                <a:schemeClr val="dk1"/>
              </a:solidFill>
              <a:latin typeface="Calibri"/>
              <a:ea typeface="Calibri"/>
              <a:cs typeface="Calibri"/>
              <a:sym typeface="Calibri"/>
            </a:endParaRPr>
          </a:p>
        </p:txBody>
      </p:sp>
      <p:sp>
        <p:nvSpPr>
          <p:cNvPr id="187" name="Google Shape;187;p10"/>
          <p:cNvSpPr/>
          <p:nvPr/>
        </p:nvSpPr>
        <p:spPr>
          <a:xfrm>
            <a:off x="6885432" y="3273552"/>
            <a:ext cx="457200" cy="457200"/>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6885432" y="32735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Open Sans"/>
              <a:buNone/>
            </a:pPr>
            <a:r>
              <a:rPr b="1" i="0" lang="en-US" sz="1300" u="none" cap="none" strike="noStrike">
                <a:solidFill>
                  <a:srgbClr val="FFFFFF"/>
                </a:solidFill>
                <a:latin typeface="Open Sans"/>
                <a:ea typeface="Open Sans"/>
                <a:cs typeface="Open Sans"/>
                <a:sym typeface="Open Sans"/>
              </a:rPr>
              <a:t>3</a:t>
            </a:r>
            <a:endParaRPr b="0" i="0" sz="1300" u="none" cap="none" strike="noStrike">
              <a:solidFill>
                <a:schemeClr val="dk1"/>
              </a:solidFill>
              <a:latin typeface="Calibri"/>
              <a:ea typeface="Calibri"/>
              <a:cs typeface="Calibri"/>
              <a:sym typeface="Calibri"/>
            </a:endParaRPr>
          </a:p>
        </p:txBody>
      </p:sp>
      <p:sp>
        <p:nvSpPr>
          <p:cNvPr id="189" name="Google Shape;189;p10"/>
          <p:cNvSpPr/>
          <p:nvPr/>
        </p:nvSpPr>
        <p:spPr>
          <a:xfrm>
            <a:off x="6217920" y="3794760"/>
            <a:ext cx="178308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Read every word</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CDDE5"/>
              </a:buClr>
              <a:buSzPts val="1050"/>
              <a:buFont typeface="Open Sans"/>
              <a:buNone/>
            </a:pPr>
            <a:r>
              <a:rPr b="0" i="0" lang="en-US" sz="1050" u="none" cap="none" strike="noStrike">
                <a:solidFill>
                  <a:srgbClr val="BCDDE5"/>
                </a:solidFill>
                <a:latin typeface="Open Sans"/>
                <a:ea typeface="Open Sans"/>
                <a:cs typeface="Open Sans"/>
                <a:sym typeface="Open Sans"/>
              </a:rPr>
              <a:t>of the output</a:t>
            </a:r>
            <a:endParaRPr b="0" i="0" sz="1050" u="none" cap="none" strike="noStrike">
              <a:solidFill>
                <a:schemeClr val="dk1"/>
              </a:solidFill>
              <a:latin typeface="Calibri"/>
              <a:ea typeface="Calibri"/>
              <a:cs typeface="Calibri"/>
              <a:sym typeface="Calibri"/>
            </a:endParaRPr>
          </a:p>
        </p:txBody>
      </p:sp>
      <p:sp>
        <p:nvSpPr>
          <p:cNvPr id="190" name="Google Shape;190;p10"/>
          <p:cNvSpPr/>
          <p:nvPr/>
        </p:nvSpPr>
        <p:spPr>
          <a:xfrm>
            <a:off x="502920" y="4828032"/>
            <a:ext cx="32004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BFCC"/>
              </a:buClr>
              <a:buSzPts val="700"/>
              <a:buFont typeface="Open Sans"/>
              <a:buNone/>
            </a:pPr>
            <a:r>
              <a:rPr b="1" i="0" lang="en-US" sz="700" u="none" cap="none" strike="noStrike">
                <a:solidFill>
                  <a:srgbClr val="7ABFCC"/>
                </a:solidFill>
                <a:latin typeface="Open Sans"/>
                <a:ea typeface="Open Sans"/>
                <a:cs typeface="Open Sans"/>
                <a:sym typeface="Open Sans"/>
              </a:rPr>
              <a:t>SECTION 3  --  SENSITIVE DEPENDENCE</a:t>
            </a:r>
            <a:endParaRPr b="0" i="0" sz="700" u="none" cap="none" strike="noStrike">
              <a:solidFill>
                <a:schemeClr val="dk1"/>
              </a:solidFill>
              <a:latin typeface="Calibri"/>
              <a:ea typeface="Calibri"/>
              <a:cs typeface="Calibri"/>
              <a:sym typeface="Calibri"/>
            </a:endParaRPr>
          </a:p>
        </p:txBody>
      </p:sp>
      <p:sp>
        <p:nvSpPr>
          <p:cNvPr id="191" name="Google Shape;191;p10"/>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0C0CC"/>
              </a:buClr>
              <a:buSzPts val="800"/>
              <a:buFont typeface="Open Sans"/>
              <a:buNone/>
            </a:pPr>
            <a:r>
              <a:rPr b="0" i="0" lang="en-US" sz="800" u="none" cap="none" strike="noStrike">
                <a:solidFill>
                  <a:srgbClr val="80C0CC"/>
                </a:solidFill>
                <a:latin typeface="Open Sans"/>
                <a:ea typeface="Open Sans"/>
                <a:cs typeface="Open Sans"/>
                <a:sym typeface="Open Sans"/>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3C"/>
        </a:solidFill>
      </p:bgPr>
    </p:bg>
    <p:spTree>
      <p:nvGrpSpPr>
        <p:cNvPr id="196" name="Shape 196"/>
        <p:cNvGrpSpPr/>
        <p:nvPr/>
      </p:nvGrpSpPr>
      <p:grpSpPr>
        <a:xfrm>
          <a:off x="0" y="0"/>
          <a:ext cx="0" cy="0"/>
          <a:chOff x="0" y="0"/>
          <a:chExt cx="0" cy="0"/>
        </a:xfrm>
      </p:grpSpPr>
      <p:sp>
        <p:nvSpPr>
          <p:cNvPr id="197" name="Google Shape;197;p11"/>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6070"/>
              </a:buClr>
              <a:buSzPts val="800"/>
              <a:buFont typeface="Open Sans"/>
              <a:buNone/>
            </a:pPr>
            <a:r>
              <a:rPr b="0" i="0" lang="en-US" sz="800" u="none" cap="none" strike="noStrike">
                <a:solidFill>
                  <a:srgbClr val="456070"/>
                </a:solidFill>
                <a:latin typeface="Open Sans"/>
                <a:ea typeface="Open Sans"/>
                <a:cs typeface="Open Sans"/>
                <a:sym typeface="Open Sans"/>
              </a:rPr>
              <a:t>9</a:t>
            </a:r>
            <a:endParaRPr b="0" i="0" sz="800" u="none" cap="none" strike="noStrike">
              <a:solidFill>
                <a:schemeClr val="dk1"/>
              </a:solidFill>
              <a:latin typeface="Calibri"/>
              <a:ea typeface="Calibri"/>
              <a:cs typeface="Calibri"/>
              <a:sym typeface="Calibri"/>
            </a:endParaRPr>
          </a:p>
        </p:txBody>
      </p:sp>
      <p:sp>
        <p:nvSpPr>
          <p:cNvPr id="198" name="Google Shape;198;p11"/>
          <p:cNvSpPr/>
          <p:nvPr/>
        </p:nvSpPr>
        <p:spPr>
          <a:xfrm>
            <a:off x="457200" y="164592"/>
            <a:ext cx="8229600"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Open Sans"/>
              <a:buNone/>
            </a:pPr>
            <a:r>
              <a:rPr b="1" i="0" lang="en-US" sz="2600" u="none" cap="none" strike="noStrike">
                <a:solidFill>
                  <a:srgbClr val="FFFFFF"/>
                </a:solidFill>
                <a:latin typeface="Open Sans"/>
                <a:ea typeface="Open Sans"/>
                <a:cs typeface="Open Sans"/>
                <a:sym typeface="Open Sans"/>
              </a:rPr>
              <a:t>One Clause Changed Everything</a:t>
            </a:r>
            <a:endParaRPr b="0" i="0" sz="2600" u="none" cap="none" strike="noStrike">
              <a:solidFill>
                <a:schemeClr val="dk1"/>
              </a:solidFill>
              <a:latin typeface="Calibri"/>
              <a:ea typeface="Calibri"/>
              <a:cs typeface="Calibri"/>
              <a:sym typeface="Calibri"/>
            </a:endParaRPr>
          </a:p>
        </p:txBody>
      </p:sp>
      <p:sp>
        <p:nvSpPr>
          <p:cNvPr id="199" name="Google Shape;199;p11"/>
          <p:cNvSpPr/>
          <p:nvPr/>
        </p:nvSpPr>
        <p:spPr>
          <a:xfrm>
            <a:off x="3017520" y="713232"/>
            <a:ext cx="1927555"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4945075" y="713232"/>
            <a:ext cx="1181405"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256032" y="932688"/>
            <a:ext cx="3822192" cy="3877056"/>
          </a:xfrm>
          <a:prstGeom prst="rect">
            <a:avLst/>
          </a:prstGeom>
          <a:solidFill>
            <a:srgbClr val="1E3040"/>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256032" y="932688"/>
            <a:ext cx="3822192" cy="292608"/>
          </a:xfrm>
          <a:prstGeom prst="rect">
            <a:avLst/>
          </a:prstGeom>
          <a:solidFill>
            <a:srgbClr val="253850"/>
          </a:solidFill>
          <a:ln cap="flat" cmpd="sng" w="12700">
            <a:solidFill>
              <a:srgbClr val="2538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256032" y="932688"/>
            <a:ext cx="3822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850"/>
              <a:buFont typeface="Open Sans"/>
              <a:buNone/>
            </a:pPr>
            <a:r>
              <a:rPr b="1" i="0" lang="en-US" sz="850" u="none" cap="none" strike="noStrike">
                <a:solidFill>
                  <a:srgbClr val="8A9FB0"/>
                </a:solidFill>
                <a:latin typeface="Open Sans"/>
                <a:ea typeface="Open Sans"/>
                <a:cs typeface="Open Sans"/>
                <a:sym typeface="Open Sans"/>
              </a:rPr>
              <a:t>PROMPT A</a:t>
            </a:r>
            <a:endParaRPr b="0" i="0" sz="850" u="none" cap="none" strike="noStrike">
              <a:solidFill>
                <a:schemeClr val="dk1"/>
              </a:solidFill>
              <a:latin typeface="Calibri"/>
              <a:ea typeface="Calibri"/>
              <a:cs typeface="Calibri"/>
              <a:sym typeface="Calibri"/>
            </a:endParaRPr>
          </a:p>
        </p:txBody>
      </p:sp>
      <p:sp>
        <p:nvSpPr>
          <p:cNvPr id="204" name="Google Shape;204;p11"/>
          <p:cNvSpPr/>
          <p:nvPr/>
        </p:nvSpPr>
        <p:spPr>
          <a:xfrm>
            <a:off x="402336" y="1261872"/>
            <a:ext cx="3547872"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C8DC"/>
              </a:buClr>
              <a:buSzPts val="1150"/>
              <a:buFont typeface="Open Sans"/>
              <a:buNone/>
            </a:pPr>
            <a:r>
              <a:rPr b="0" i="1" lang="en-US" sz="1150" u="none" cap="none" strike="noStrike">
                <a:solidFill>
                  <a:srgbClr val="B0C8DC"/>
                </a:solidFill>
                <a:latin typeface="Open Sans"/>
                <a:ea typeface="Open Sans"/>
                <a:cs typeface="Open Sans"/>
                <a:sym typeface="Open Sans"/>
              </a:rPr>
              <a:t>Explain photosynthesis to a first year university student.</a:t>
            </a:r>
            <a:endParaRPr b="0" i="0" sz="1150" u="none" cap="none" strike="noStrike">
              <a:solidFill>
                <a:schemeClr val="dk1"/>
              </a:solidFill>
              <a:latin typeface="Calibri"/>
              <a:ea typeface="Calibri"/>
              <a:cs typeface="Calibri"/>
              <a:sym typeface="Calibri"/>
            </a:endParaRPr>
          </a:p>
        </p:txBody>
      </p:sp>
      <p:cxnSp>
        <p:nvCxnSpPr>
          <p:cNvPr id="205" name="Google Shape;205;p11"/>
          <p:cNvCxnSpPr/>
          <p:nvPr/>
        </p:nvCxnSpPr>
        <p:spPr>
          <a:xfrm>
            <a:off x="402336" y="1892808"/>
            <a:ext cx="3547872" cy="0"/>
          </a:xfrm>
          <a:prstGeom prst="straightConnector1">
            <a:avLst/>
          </a:prstGeom>
          <a:noFill/>
          <a:ln cap="flat" cmpd="sng" w="12700">
            <a:solidFill>
              <a:srgbClr val="2A3F52"/>
            </a:solidFill>
            <a:prstDash val="solid"/>
            <a:round/>
            <a:headEnd len="sm" w="sm" type="none"/>
            <a:tailEnd len="sm" w="sm" type="none"/>
          </a:ln>
        </p:spPr>
      </p:cxnSp>
      <p:sp>
        <p:nvSpPr>
          <p:cNvPr id="206" name="Google Shape;206;p11"/>
          <p:cNvSpPr/>
          <p:nvPr/>
        </p:nvSpPr>
        <p:spPr>
          <a:xfrm>
            <a:off x="402336" y="1938528"/>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FB0"/>
              </a:buClr>
              <a:buSzPts val="800"/>
              <a:buFont typeface="Open Sans"/>
              <a:buNone/>
            </a:pPr>
            <a:r>
              <a:rPr b="1" i="0" lang="en-US" sz="800" u="none" cap="none" strike="noStrike">
                <a:solidFill>
                  <a:srgbClr val="8A9FB0"/>
                </a:solidFill>
                <a:latin typeface="Open Sans"/>
                <a:ea typeface="Open Sans"/>
                <a:cs typeface="Open Sans"/>
                <a:sym typeface="Open Sans"/>
              </a:rPr>
              <a:t>OUTPUT</a:t>
            </a:r>
            <a:endParaRPr b="0" i="0" sz="800" u="none" cap="none" strike="noStrike">
              <a:solidFill>
                <a:schemeClr val="dk1"/>
              </a:solidFill>
              <a:latin typeface="Calibri"/>
              <a:ea typeface="Calibri"/>
              <a:cs typeface="Calibri"/>
              <a:sym typeface="Calibri"/>
            </a:endParaRPr>
          </a:p>
        </p:txBody>
      </p:sp>
      <p:sp>
        <p:nvSpPr>
          <p:cNvPr id="207" name="Google Shape;207;p11"/>
          <p:cNvSpPr/>
          <p:nvPr/>
        </p:nvSpPr>
        <p:spPr>
          <a:xfrm>
            <a:off x="402336" y="2194560"/>
            <a:ext cx="3547872" cy="2487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9DB8"/>
              </a:buClr>
              <a:buSzPts val="1050"/>
              <a:buFont typeface="Open Sans"/>
              <a:buNone/>
            </a:pPr>
            <a:r>
              <a:rPr b="0" i="0" lang="en-US" sz="1050" u="none" cap="none" strike="noStrike">
                <a:solidFill>
                  <a:srgbClr val="7A9DB8"/>
                </a:solidFill>
                <a:latin typeface="Open Sans"/>
                <a:ea typeface="Open Sans"/>
                <a:cs typeface="Open Sans"/>
                <a:sym typeface="Open Sans"/>
              </a:rPr>
              <a:t>Photosynthesis is the biological process by which plants convert light energy into chemical energy. Using chlorophyll, they absorb carbon dioxide and water to produce glucose, releasing oxygen as a byproduct. The process has two stages: light-dependent reactions in the thylakoid, and the Calvin cycle in the stroma.</a:t>
            </a:r>
            <a:endParaRPr b="0" i="0" sz="1050" u="none" cap="none" strike="noStrike">
              <a:solidFill>
                <a:schemeClr val="dk1"/>
              </a:solidFill>
              <a:latin typeface="Calibri"/>
              <a:ea typeface="Calibri"/>
              <a:cs typeface="Calibri"/>
              <a:sym typeface="Calibri"/>
            </a:endParaRPr>
          </a:p>
        </p:txBody>
      </p:sp>
      <p:sp>
        <p:nvSpPr>
          <p:cNvPr id="208" name="Google Shape;208;p11"/>
          <p:cNvSpPr/>
          <p:nvPr/>
        </p:nvSpPr>
        <p:spPr>
          <a:xfrm>
            <a:off x="4005072" y="1755648"/>
            <a:ext cx="1133856" cy="1316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5200"/>
              <a:buFont typeface="Quattrocento Sans"/>
              <a:buNone/>
            </a:pPr>
            <a:r>
              <a:rPr b="0" i="0" lang="en-US" sz="5200" u="none" cap="none" strike="noStrike">
                <a:solidFill>
                  <a:srgbClr val="000000"/>
                </a:solidFill>
                <a:latin typeface="Quattrocento Sans"/>
                <a:ea typeface="Quattrocento Sans"/>
                <a:cs typeface="Quattrocento Sans"/>
                <a:sym typeface="Quattrocento Sans"/>
              </a:rPr>
              <a:t>🦋</a:t>
            </a:r>
            <a:endParaRPr b="0" i="0" sz="5200" u="none" cap="none" strike="noStrike">
              <a:solidFill>
                <a:schemeClr val="dk1"/>
              </a:solidFill>
              <a:latin typeface="Calibri"/>
              <a:ea typeface="Calibri"/>
              <a:cs typeface="Calibri"/>
              <a:sym typeface="Calibri"/>
            </a:endParaRPr>
          </a:p>
        </p:txBody>
      </p:sp>
      <p:sp>
        <p:nvSpPr>
          <p:cNvPr id="209" name="Google Shape;209;p11"/>
          <p:cNvSpPr/>
          <p:nvPr/>
        </p:nvSpPr>
        <p:spPr>
          <a:xfrm>
            <a:off x="5065776" y="932688"/>
            <a:ext cx="3822192" cy="3877056"/>
          </a:xfrm>
          <a:prstGeom prst="rect">
            <a:avLst/>
          </a:prstGeom>
          <a:solidFill>
            <a:srgbClr val="0A3345"/>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5065776" y="932688"/>
            <a:ext cx="3822192" cy="292608"/>
          </a:xfrm>
          <a:prstGeom prst="rect">
            <a:avLst/>
          </a:prstGeom>
          <a:solidFill>
            <a:srgbClr val="0D4A5C"/>
          </a:solidFill>
          <a:ln cap="flat" cmpd="sng" w="12700">
            <a:solidFill>
              <a:srgbClr val="0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5065776" y="932688"/>
            <a:ext cx="3822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BFCC"/>
              </a:buClr>
              <a:buSzPts val="850"/>
              <a:buFont typeface="Open Sans"/>
              <a:buNone/>
            </a:pPr>
            <a:r>
              <a:rPr b="1" i="0" lang="en-US" sz="850" u="none" cap="none" strike="noStrike">
                <a:solidFill>
                  <a:srgbClr val="7ABFCC"/>
                </a:solidFill>
                <a:latin typeface="Open Sans"/>
                <a:ea typeface="Open Sans"/>
                <a:cs typeface="Open Sans"/>
                <a:sym typeface="Open Sans"/>
              </a:rPr>
              <a:t>PROMPT B</a:t>
            </a:r>
            <a:endParaRPr b="0" i="0" sz="850" u="none" cap="none" strike="noStrike">
              <a:solidFill>
                <a:schemeClr val="dk1"/>
              </a:solidFill>
              <a:latin typeface="Calibri"/>
              <a:ea typeface="Calibri"/>
              <a:cs typeface="Calibri"/>
              <a:sym typeface="Calibri"/>
            </a:endParaRPr>
          </a:p>
        </p:txBody>
      </p:sp>
      <p:sp>
        <p:nvSpPr>
          <p:cNvPr id="212" name="Google Shape;212;p11"/>
          <p:cNvSpPr/>
          <p:nvPr/>
        </p:nvSpPr>
        <p:spPr>
          <a:xfrm>
            <a:off x="5212080" y="1261872"/>
            <a:ext cx="3547872"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C8DC"/>
              </a:buClr>
              <a:buSzPts val="1150"/>
              <a:buFont typeface="Open Sans"/>
              <a:buNone/>
            </a:pPr>
            <a:r>
              <a:rPr b="0" i="1" lang="en-US" sz="1150" u="none" cap="none" strike="noStrike">
                <a:solidFill>
                  <a:srgbClr val="B0C8DC"/>
                </a:solidFill>
                <a:latin typeface="Open Sans"/>
                <a:ea typeface="Open Sans"/>
                <a:cs typeface="Open Sans"/>
                <a:sym typeface="Open Sans"/>
              </a:rPr>
              <a:t>Explain photosynthesis to a first year university student </a:t>
            </a:r>
            <a:r>
              <a:rPr b="1" i="1" lang="en-US" sz="1150" u="none" cap="none" strike="noStrike">
                <a:solidFill>
                  <a:srgbClr val="E8831A"/>
                </a:solidFill>
                <a:latin typeface="Open Sans"/>
                <a:ea typeface="Open Sans"/>
                <a:cs typeface="Open Sans"/>
                <a:sym typeface="Open Sans"/>
              </a:rPr>
              <a:t>who finds science abstract and dull.</a:t>
            </a:r>
            <a:endParaRPr b="0" i="0" sz="1150" u="none" cap="none" strike="noStrike">
              <a:solidFill>
                <a:schemeClr val="dk1"/>
              </a:solidFill>
              <a:latin typeface="Calibri"/>
              <a:ea typeface="Calibri"/>
              <a:cs typeface="Calibri"/>
              <a:sym typeface="Calibri"/>
            </a:endParaRPr>
          </a:p>
        </p:txBody>
      </p:sp>
      <p:cxnSp>
        <p:nvCxnSpPr>
          <p:cNvPr id="213" name="Google Shape;213;p11"/>
          <p:cNvCxnSpPr/>
          <p:nvPr/>
        </p:nvCxnSpPr>
        <p:spPr>
          <a:xfrm>
            <a:off x="5212080" y="1892808"/>
            <a:ext cx="3547872" cy="0"/>
          </a:xfrm>
          <a:prstGeom prst="straightConnector1">
            <a:avLst/>
          </a:prstGeom>
          <a:noFill/>
          <a:ln cap="flat" cmpd="sng" w="12700">
            <a:solidFill>
              <a:srgbClr val="1A4A60"/>
            </a:solidFill>
            <a:prstDash val="solid"/>
            <a:round/>
            <a:headEnd len="sm" w="sm" type="none"/>
            <a:tailEnd len="sm" w="sm" type="none"/>
          </a:ln>
        </p:spPr>
      </p:cxnSp>
      <p:sp>
        <p:nvSpPr>
          <p:cNvPr id="214" name="Google Shape;214;p11"/>
          <p:cNvSpPr/>
          <p:nvPr/>
        </p:nvSpPr>
        <p:spPr>
          <a:xfrm>
            <a:off x="5212080" y="1938528"/>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BFCC"/>
              </a:buClr>
              <a:buSzPts val="800"/>
              <a:buFont typeface="Open Sans"/>
              <a:buNone/>
            </a:pPr>
            <a:r>
              <a:rPr b="1" i="0" lang="en-US" sz="800" u="none" cap="none" strike="noStrike">
                <a:solidFill>
                  <a:srgbClr val="7ABFCC"/>
                </a:solidFill>
                <a:latin typeface="Open Sans"/>
                <a:ea typeface="Open Sans"/>
                <a:cs typeface="Open Sans"/>
                <a:sym typeface="Open Sans"/>
              </a:rPr>
              <a:t>OUTPUT</a:t>
            </a:r>
            <a:endParaRPr b="0" i="0" sz="800" u="none" cap="none" strike="noStrike">
              <a:solidFill>
                <a:schemeClr val="dk1"/>
              </a:solidFill>
              <a:latin typeface="Calibri"/>
              <a:ea typeface="Calibri"/>
              <a:cs typeface="Calibri"/>
              <a:sym typeface="Calibri"/>
            </a:endParaRPr>
          </a:p>
        </p:txBody>
      </p:sp>
      <p:sp>
        <p:nvSpPr>
          <p:cNvPr id="215" name="Google Shape;215;p11"/>
          <p:cNvSpPr/>
          <p:nvPr/>
        </p:nvSpPr>
        <p:spPr>
          <a:xfrm>
            <a:off x="5212080" y="2194560"/>
            <a:ext cx="3547872" cy="2487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D8E6"/>
              </a:buClr>
              <a:buSzPts val="1050"/>
              <a:buFont typeface="Open Sans"/>
              <a:buNone/>
            </a:pPr>
            <a:r>
              <a:rPr b="0" i="0" lang="en-US" sz="1050" u="none" cap="none" strike="noStrike">
                <a:solidFill>
                  <a:srgbClr val="A0D8E6"/>
                </a:solidFill>
                <a:latin typeface="Open Sans"/>
                <a:ea typeface="Open Sans"/>
                <a:cs typeface="Open Sans"/>
                <a:sym typeface="Open Sans"/>
              </a:rPr>
              <a:t>Think of a plant as a solar-powered kitchen. Sunlight is the electricity. Carbon dioxide and water are the raw ingredients it orders in. Glucose -- the meal it cooks -- is what keeps it alive. The byproduct it vents out the window? That is the oxygen you are breathing right now.</a:t>
            </a:r>
            <a:endParaRPr b="0" i="0" sz="1050" u="none" cap="none" strike="noStrike">
              <a:solidFill>
                <a:schemeClr val="dk1"/>
              </a:solidFill>
              <a:latin typeface="Calibri"/>
              <a:ea typeface="Calibri"/>
              <a:cs typeface="Calibri"/>
              <a:sym typeface="Calibri"/>
            </a:endParaRPr>
          </a:p>
        </p:txBody>
      </p:sp>
      <p:sp>
        <p:nvSpPr>
          <p:cNvPr id="216" name="Google Shape;216;p11"/>
          <p:cNvSpPr/>
          <p:nvPr/>
        </p:nvSpPr>
        <p:spPr>
          <a:xfrm>
            <a:off x="457200" y="4828032"/>
            <a:ext cx="8229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56070"/>
              </a:buClr>
              <a:buSzPts val="1050"/>
              <a:buFont typeface="Open Sans"/>
              <a:buNone/>
            </a:pPr>
            <a:r>
              <a:rPr b="0" i="1" lang="en-US" sz="1050" u="none" cap="none" strike="noStrike">
                <a:solidFill>
                  <a:srgbClr val="456070"/>
                </a:solidFill>
                <a:latin typeface="Open Sans"/>
                <a:ea typeface="Open Sans"/>
                <a:cs typeface="Open Sans"/>
                <a:sym typeface="Open Sans"/>
              </a:rPr>
              <a:t>This is sensitive dependence on initial conditions.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2"/>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Three Questions to Hold</a:t>
            </a:r>
            <a:endParaRPr b="0" i="0" sz="2500" u="none" cap="none" strike="noStrike">
              <a:solidFill>
                <a:schemeClr val="dk1"/>
              </a:solidFill>
              <a:latin typeface="Calibri"/>
              <a:ea typeface="Calibri"/>
              <a:cs typeface="Calibri"/>
              <a:sym typeface="Calibri"/>
            </a:endParaRPr>
          </a:p>
        </p:txBody>
      </p:sp>
      <p:sp>
        <p:nvSpPr>
          <p:cNvPr id="223" name="Google Shape;223;p12"/>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SENSITIVE DEPENDENCE</a:t>
            </a:r>
            <a:endParaRPr b="0" i="0" sz="700" u="none" cap="none" strike="noStrike">
              <a:solidFill>
                <a:schemeClr val="dk1"/>
              </a:solidFill>
              <a:latin typeface="Calibri"/>
              <a:ea typeface="Calibri"/>
              <a:cs typeface="Calibri"/>
              <a:sym typeface="Calibri"/>
            </a:endParaRPr>
          </a:p>
        </p:txBody>
      </p:sp>
      <p:sp>
        <p:nvSpPr>
          <p:cNvPr id="227" name="Google Shape;227;p12"/>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10</a:t>
            </a:r>
            <a:endParaRPr b="0" i="0" sz="800" u="none" cap="none" strike="noStrike">
              <a:solidFill>
                <a:schemeClr val="dk1"/>
              </a:solidFill>
              <a:latin typeface="Calibri"/>
              <a:ea typeface="Calibri"/>
              <a:cs typeface="Calibri"/>
              <a:sym typeface="Calibri"/>
            </a:endParaRPr>
          </a:p>
        </p:txBody>
      </p:sp>
      <p:sp>
        <p:nvSpPr>
          <p:cNvPr id="228" name="Google Shape;228;p12"/>
          <p:cNvSpPr/>
          <p:nvPr/>
        </p:nvSpPr>
        <p:spPr>
          <a:xfrm>
            <a:off x="502920" y="987552"/>
            <a:ext cx="8138160" cy="1097280"/>
          </a:xfrm>
          <a:prstGeom prst="rect">
            <a:avLst/>
          </a:prstGeom>
          <a:solidFill>
            <a:srgbClr val="E0F4F6"/>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685800" y="1280160"/>
            <a:ext cx="512064" cy="512064"/>
          </a:xfrm>
          <a:prstGeom prst="ellipse">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685800" y="128016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1</a:t>
            </a:r>
            <a:endParaRPr b="0" i="0" sz="1500" u="none" cap="none" strike="noStrike">
              <a:solidFill>
                <a:schemeClr val="dk1"/>
              </a:solidFill>
              <a:latin typeface="Calibri"/>
              <a:ea typeface="Calibri"/>
              <a:cs typeface="Calibri"/>
              <a:sym typeface="Calibri"/>
            </a:endParaRPr>
          </a:p>
        </p:txBody>
      </p:sp>
      <p:sp>
        <p:nvSpPr>
          <p:cNvPr id="231" name="Google Shape;231;p12"/>
          <p:cNvSpPr/>
          <p:nvPr/>
        </p:nvSpPr>
        <p:spPr>
          <a:xfrm>
            <a:off x="1389888" y="1078992"/>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500"/>
              <a:buFont typeface="Open Sans"/>
              <a:buNone/>
            </a:pPr>
            <a:r>
              <a:rPr b="1" i="0" lang="en-US" sz="1500" u="none" cap="none" strike="noStrike">
                <a:solidFill>
                  <a:srgbClr val="1A2535"/>
                </a:solidFill>
                <a:latin typeface="Open Sans"/>
                <a:ea typeface="Open Sans"/>
                <a:cs typeface="Open Sans"/>
                <a:sym typeface="Open Sans"/>
              </a:rPr>
              <a:t>What did the AI get right?</a:t>
            </a:r>
            <a:endParaRPr b="0" i="0" sz="1500" u="none" cap="none" strike="noStrike">
              <a:solidFill>
                <a:schemeClr val="dk1"/>
              </a:solidFill>
              <a:latin typeface="Calibri"/>
              <a:ea typeface="Calibri"/>
              <a:cs typeface="Calibri"/>
              <a:sym typeface="Calibri"/>
            </a:endParaRPr>
          </a:p>
        </p:txBody>
      </p:sp>
      <p:sp>
        <p:nvSpPr>
          <p:cNvPr id="232" name="Google Shape;232;p12"/>
          <p:cNvSpPr/>
          <p:nvPr/>
        </p:nvSpPr>
        <p:spPr>
          <a:xfrm>
            <a:off x="1389888" y="1609344"/>
            <a:ext cx="70408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100"/>
              <a:buFont typeface="Open Sans"/>
              <a:buNone/>
            </a:pPr>
            <a:r>
              <a:rPr b="0" i="1" lang="en-US" sz="1100" u="none" cap="none" strike="noStrike">
                <a:solidFill>
                  <a:srgbClr val="4A5E70"/>
                </a:solidFill>
                <a:latin typeface="Open Sans"/>
                <a:ea typeface="Open Sans"/>
                <a:cs typeface="Open Sans"/>
                <a:sym typeface="Open Sans"/>
              </a:rPr>
              <a:t>Accuracy check -- your discipline knowledge is the filter</a:t>
            </a:r>
            <a:endParaRPr b="0" i="0" sz="1100" u="none" cap="none" strike="noStrike">
              <a:solidFill>
                <a:schemeClr val="dk1"/>
              </a:solidFill>
              <a:latin typeface="Calibri"/>
              <a:ea typeface="Calibri"/>
              <a:cs typeface="Calibri"/>
              <a:sym typeface="Calibri"/>
            </a:endParaRPr>
          </a:p>
        </p:txBody>
      </p:sp>
      <p:sp>
        <p:nvSpPr>
          <p:cNvPr id="233" name="Google Shape;233;p12"/>
          <p:cNvSpPr/>
          <p:nvPr/>
        </p:nvSpPr>
        <p:spPr>
          <a:xfrm>
            <a:off x="502920" y="2212848"/>
            <a:ext cx="8138160" cy="1097280"/>
          </a:xfrm>
          <a:prstGeom prst="rect">
            <a:avLst/>
          </a:prstGeom>
          <a:solidFill>
            <a:srgbClr val="FDF0E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685800" y="2505456"/>
            <a:ext cx="512064" cy="512064"/>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685800" y="2505456"/>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2</a:t>
            </a:r>
            <a:endParaRPr b="0" i="0" sz="1500" u="none" cap="none" strike="noStrike">
              <a:solidFill>
                <a:schemeClr val="dk1"/>
              </a:solidFill>
              <a:latin typeface="Calibri"/>
              <a:ea typeface="Calibri"/>
              <a:cs typeface="Calibri"/>
              <a:sym typeface="Calibri"/>
            </a:endParaRPr>
          </a:p>
        </p:txBody>
      </p:sp>
      <p:sp>
        <p:nvSpPr>
          <p:cNvPr id="236" name="Google Shape;236;p12"/>
          <p:cNvSpPr/>
          <p:nvPr/>
        </p:nvSpPr>
        <p:spPr>
          <a:xfrm>
            <a:off x="1389888" y="2304288"/>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500"/>
              <a:buFont typeface="Open Sans"/>
              <a:buNone/>
            </a:pPr>
            <a:r>
              <a:rPr b="1" i="0" lang="en-US" sz="1500" u="none" cap="none" strike="noStrike">
                <a:solidFill>
                  <a:srgbClr val="1A2535"/>
                </a:solidFill>
                <a:latin typeface="Open Sans"/>
                <a:ea typeface="Open Sans"/>
                <a:cs typeface="Open Sans"/>
                <a:sym typeface="Open Sans"/>
              </a:rPr>
              <a:t>What was wrong or too shallow?</a:t>
            </a:r>
            <a:endParaRPr b="0" i="0" sz="1500" u="none" cap="none" strike="noStrike">
              <a:solidFill>
                <a:schemeClr val="dk1"/>
              </a:solidFill>
              <a:latin typeface="Calibri"/>
              <a:ea typeface="Calibri"/>
              <a:cs typeface="Calibri"/>
              <a:sym typeface="Calibri"/>
            </a:endParaRPr>
          </a:p>
        </p:txBody>
      </p:sp>
      <p:sp>
        <p:nvSpPr>
          <p:cNvPr id="237" name="Google Shape;237;p12"/>
          <p:cNvSpPr/>
          <p:nvPr/>
        </p:nvSpPr>
        <p:spPr>
          <a:xfrm>
            <a:off x="1389888" y="2834640"/>
            <a:ext cx="70408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100"/>
              <a:buFont typeface="Open Sans"/>
              <a:buNone/>
            </a:pPr>
            <a:r>
              <a:rPr b="0" i="1" lang="en-US" sz="1100" u="none" cap="none" strike="noStrike">
                <a:solidFill>
                  <a:srgbClr val="4A5E70"/>
                </a:solidFill>
                <a:latin typeface="Open Sans"/>
                <a:ea typeface="Open Sans"/>
                <a:cs typeface="Open Sans"/>
                <a:sym typeface="Open Sans"/>
              </a:rPr>
              <a:t>Gap check -- where did phrasing or scope let it down?</a:t>
            </a:r>
            <a:endParaRPr b="0" i="0" sz="1100" u="none" cap="none" strike="noStrike">
              <a:solidFill>
                <a:schemeClr val="dk1"/>
              </a:solidFill>
              <a:latin typeface="Calibri"/>
              <a:ea typeface="Calibri"/>
              <a:cs typeface="Calibri"/>
              <a:sym typeface="Calibri"/>
            </a:endParaRPr>
          </a:p>
        </p:txBody>
      </p:sp>
      <p:sp>
        <p:nvSpPr>
          <p:cNvPr id="238" name="Google Shape;238;p12"/>
          <p:cNvSpPr/>
          <p:nvPr/>
        </p:nvSpPr>
        <p:spPr>
          <a:xfrm>
            <a:off x="502920" y="3438144"/>
            <a:ext cx="8138160" cy="1097280"/>
          </a:xfrm>
          <a:prstGeom prst="rect">
            <a:avLst/>
          </a:prstGeom>
          <a:solidFill>
            <a:srgbClr val="F6F8FA"/>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85800" y="3730752"/>
            <a:ext cx="512064" cy="512064"/>
          </a:xfrm>
          <a:prstGeom prst="ellipse">
            <a:avLst/>
          </a:prstGeom>
          <a:solidFill>
            <a:srgbClr val="1A2B3C"/>
          </a:solidFill>
          <a:ln cap="flat" cmpd="sng" w="1270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85800" y="3730752"/>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3</a:t>
            </a:r>
            <a:endParaRPr b="0" i="0" sz="1500" u="none" cap="none" strike="noStrike">
              <a:solidFill>
                <a:schemeClr val="dk1"/>
              </a:solidFill>
              <a:latin typeface="Calibri"/>
              <a:ea typeface="Calibri"/>
              <a:cs typeface="Calibri"/>
              <a:sym typeface="Calibri"/>
            </a:endParaRPr>
          </a:p>
        </p:txBody>
      </p:sp>
      <p:sp>
        <p:nvSpPr>
          <p:cNvPr id="241" name="Google Shape;241;p12"/>
          <p:cNvSpPr/>
          <p:nvPr/>
        </p:nvSpPr>
        <p:spPr>
          <a:xfrm>
            <a:off x="1389888" y="3529584"/>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500"/>
              <a:buFont typeface="Open Sans"/>
              <a:buNone/>
            </a:pPr>
            <a:r>
              <a:rPr b="1" i="0" lang="en-US" sz="1500" u="none" cap="none" strike="noStrike">
                <a:solidFill>
                  <a:srgbClr val="1A2535"/>
                </a:solidFill>
                <a:latin typeface="Open Sans"/>
                <a:ea typeface="Open Sans"/>
                <a:cs typeface="Open Sans"/>
                <a:sym typeface="Open Sans"/>
              </a:rPr>
              <a:t>What would have taken you longer to write yourself?</a:t>
            </a:r>
            <a:endParaRPr b="0" i="0" sz="1500" u="none" cap="none" strike="noStrike">
              <a:solidFill>
                <a:schemeClr val="dk1"/>
              </a:solidFill>
              <a:latin typeface="Calibri"/>
              <a:ea typeface="Calibri"/>
              <a:cs typeface="Calibri"/>
              <a:sym typeface="Calibri"/>
            </a:endParaRPr>
          </a:p>
        </p:txBody>
      </p:sp>
      <p:sp>
        <p:nvSpPr>
          <p:cNvPr id="242" name="Google Shape;242;p12"/>
          <p:cNvSpPr/>
          <p:nvPr/>
        </p:nvSpPr>
        <p:spPr>
          <a:xfrm>
            <a:off x="1389888" y="4059936"/>
            <a:ext cx="70408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100"/>
              <a:buFont typeface="Open Sans"/>
              <a:buNone/>
            </a:pPr>
            <a:r>
              <a:rPr b="0" i="1" lang="en-US" sz="1100" u="none" cap="none" strike="noStrike">
                <a:solidFill>
                  <a:srgbClr val="4A5E70"/>
                </a:solidFill>
                <a:latin typeface="Open Sans"/>
                <a:ea typeface="Open Sans"/>
                <a:cs typeface="Open Sans"/>
                <a:sym typeface="Open Sans"/>
              </a:rPr>
              <a:t>Value check -- where is the legitimate time saving?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13"/>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You as Designer</a:t>
            </a:r>
            <a:endParaRPr b="0" i="0" sz="2500" u="none" cap="none" strike="noStrike">
              <a:solidFill>
                <a:schemeClr val="dk1"/>
              </a:solidFill>
              <a:latin typeface="Calibri"/>
              <a:ea typeface="Calibri"/>
              <a:cs typeface="Calibri"/>
              <a:sym typeface="Calibri"/>
            </a:endParaRPr>
          </a:p>
        </p:txBody>
      </p:sp>
      <p:sp>
        <p:nvSpPr>
          <p:cNvPr id="249" name="Google Shape;249;p13"/>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PHASE SPACE</a:t>
            </a:r>
            <a:endParaRPr b="0" i="0" sz="700" u="none" cap="none" strike="noStrike">
              <a:solidFill>
                <a:schemeClr val="dk1"/>
              </a:solidFill>
              <a:latin typeface="Calibri"/>
              <a:ea typeface="Calibri"/>
              <a:cs typeface="Calibri"/>
              <a:sym typeface="Calibri"/>
            </a:endParaRPr>
          </a:p>
        </p:txBody>
      </p:sp>
      <p:sp>
        <p:nvSpPr>
          <p:cNvPr id="253" name="Google Shape;253;p13"/>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11</a:t>
            </a:r>
            <a:endParaRPr b="0" i="0" sz="800" u="none" cap="none" strike="noStrike">
              <a:solidFill>
                <a:schemeClr val="dk1"/>
              </a:solidFill>
              <a:latin typeface="Calibri"/>
              <a:ea typeface="Calibri"/>
              <a:cs typeface="Calibri"/>
              <a:sym typeface="Calibri"/>
            </a:endParaRPr>
          </a:p>
        </p:txBody>
      </p:sp>
      <p:sp>
        <p:nvSpPr>
          <p:cNvPr id="254" name="Google Shape;254;p13"/>
          <p:cNvSpPr/>
          <p:nvPr/>
        </p:nvSpPr>
        <p:spPr>
          <a:xfrm>
            <a:off x="502920" y="987552"/>
            <a:ext cx="2468880" cy="2468880"/>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502920" y="987552"/>
            <a:ext cx="2468880" cy="2468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000"/>
              <a:buFont typeface="Quattrocento Sans"/>
              <a:buNone/>
            </a:pPr>
            <a:r>
              <a:rPr b="0" i="0" lang="en-US" sz="7000" u="none" cap="none" strike="noStrike">
                <a:solidFill>
                  <a:srgbClr val="000000"/>
                </a:solidFill>
                <a:latin typeface="Quattrocento Sans"/>
                <a:ea typeface="Quattrocento Sans"/>
                <a:cs typeface="Quattrocento Sans"/>
                <a:sym typeface="Quattrocento Sans"/>
              </a:rPr>
              <a:t>🎨</a:t>
            </a:r>
            <a:endParaRPr b="0" i="0" sz="7000" u="none" cap="none" strike="noStrike">
              <a:solidFill>
                <a:schemeClr val="dk1"/>
              </a:solidFill>
              <a:latin typeface="Calibri"/>
              <a:ea typeface="Calibri"/>
              <a:cs typeface="Calibri"/>
              <a:sym typeface="Calibri"/>
            </a:endParaRPr>
          </a:p>
        </p:txBody>
      </p:sp>
      <p:sp>
        <p:nvSpPr>
          <p:cNvPr id="256" name="Google Shape;256;p13"/>
          <p:cNvSpPr/>
          <p:nvPr/>
        </p:nvSpPr>
        <p:spPr>
          <a:xfrm>
            <a:off x="3200400" y="987552"/>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57" name="Google Shape;257;p13"/>
          <p:cNvSpPr/>
          <p:nvPr/>
        </p:nvSpPr>
        <p:spPr>
          <a:xfrm>
            <a:off x="3730752" y="987552"/>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Generate a marking rubric at a specified Bloom's level</a:t>
            </a:r>
            <a:endParaRPr b="0" i="0" sz="1300" u="none" cap="none" strike="noStrike">
              <a:solidFill>
                <a:schemeClr val="dk1"/>
              </a:solidFill>
              <a:latin typeface="Calibri"/>
              <a:ea typeface="Calibri"/>
              <a:cs typeface="Calibri"/>
              <a:sym typeface="Calibri"/>
            </a:endParaRPr>
          </a:p>
        </p:txBody>
      </p:sp>
      <p:sp>
        <p:nvSpPr>
          <p:cNvPr id="258" name="Google Shape;258;p13"/>
          <p:cNvSpPr/>
          <p:nvPr/>
        </p:nvSpPr>
        <p:spPr>
          <a:xfrm>
            <a:off x="3200400" y="1664208"/>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59" name="Google Shape;259;p13"/>
          <p:cNvSpPr/>
          <p:nvPr/>
        </p:nvSpPr>
        <p:spPr>
          <a:xfrm>
            <a:off x="3730752" y="1664208"/>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Draft a case study for your own subject area</a:t>
            </a:r>
            <a:endParaRPr b="0" i="0" sz="1300" u="none" cap="none" strike="noStrike">
              <a:solidFill>
                <a:schemeClr val="dk1"/>
              </a:solidFill>
              <a:latin typeface="Calibri"/>
              <a:ea typeface="Calibri"/>
              <a:cs typeface="Calibri"/>
              <a:sym typeface="Calibri"/>
            </a:endParaRPr>
          </a:p>
        </p:txBody>
      </p:sp>
      <p:sp>
        <p:nvSpPr>
          <p:cNvPr id="260" name="Google Shape;260;p13"/>
          <p:cNvSpPr/>
          <p:nvPr/>
        </p:nvSpPr>
        <p:spPr>
          <a:xfrm>
            <a:off x="3200400" y="2340864"/>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61" name="Google Shape;261;p13"/>
          <p:cNvSpPr/>
          <p:nvPr/>
        </p:nvSpPr>
        <p:spPr>
          <a:xfrm>
            <a:off x="3730752" y="2340864"/>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Simplify a reading passage for ESL (English as a Second Language) students</a:t>
            </a:r>
            <a:endParaRPr b="0" i="0" sz="1300" u="none" cap="none" strike="noStrike">
              <a:solidFill>
                <a:schemeClr val="dk1"/>
              </a:solidFill>
              <a:latin typeface="Calibri"/>
              <a:ea typeface="Calibri"/>
              <a:cs typeface="Calibri"/>
              <a:sym typeface="Calibri"/>
            </a:endParaRPr>
          </a:p>
        </p:txBody>
      </p:sp>
      <p:sp>
        <p:nvSpPr>
          <p:cNvPr id="262" name="Google Shape;262;p13"/>
          <p:cNvSpPr/>
          <p:nvPr/>
        </p:nvSpPr>
        <p:spPr>
          <a:xfrm>
            <a:off x="3200400" y="3017520"/>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63" name="Google Shape;263;p13"/>
          <p:cNvSpPr/>
          <p:nvPr/>
        </p:nvSpPr>
        <p:spPr>
          <a:xfrm>
            <a:off x="3730752" y="3017520"/>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Produce 20 exam questions mapped to your learning outcomes</a:t>
            </a:r>
            <a:endParaRPr b="0" i="0" sz="1300" u="none" cap="none" strike="noStrike">
              <a:solidFill>
                <a:schemeClr val="dk1"/>
              </a:solidFill>
              <a:latin typeface="Calibri"/>
              <a:ea typeface="Calibri"/>
              <a:cs typeface="Calibri"/>
              <a:sym typeface="Calibri"/>
            </a:endParaRPr>
          </a:p>
        </p:txBody>
      </p:sp>
      <p:sp>
        <p:nvSpPr>
          <p:cNvPr id="264" name="Google Shape;264;p13"/>
          <p:cNvSpPr/>
          <p:nvPr/>
        </p:nvSpPr>
        <p:spPr>
          <a:xfrm>
            <a:off x="3200400" y="3675888"/>
            <a:ext cx="5440680" cy="621792"/>
          </a:xfrm>
          <a:prstGeom prst="rect">
            <a:avLst/>
          </a:prstGeom>
          <a:solidFill>
            <a:srgbClr val="FDF0E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3337560" y="3703320"/>
            <a:ext cx="5212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A1A"/>
              </a:buClr>
              <a:buSzPts val="1050"/>
              <a:buFont typeface="Open Sans"/>
              <a:buNone/>
            </a:pPr>
            <a:r>
              <a:rPr b="0" i="1" lang="en-US" sz="1050" u="none" cap="none" strike="noStrike">
                <a:solidFill>
                  <a:srgbClr val="7A5A1A"/>
                </a:solidFill>
                <a:latin typeface="Open Sans"/>
                <a:ea typeface="Open Sans"/>
                <a:cs typeface="Open Sans"/>
                <a:sym typeface="Open Sans"/>
              </a:rPr>
              <a:t>Prompt: "Write a Bloom's Level 4 rubric for a 2000-word essay on data breach response. Five criteria. Table format." -- Done in 8 seconds.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14"/>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You as Assessor</a:t>
            </a:r>
            <a:endParaRPr b="0" i="0" sz="2500" u="none" cap="none" strike="noStrike">
              <a:solidFill>
                <a:schemeClr val="dk1"/>
              </a:solidFill>
              <a:latin typeface="Calibri"/>
              <a:ea typeface="Calibri"/>
              <a:cs typeface="Calibri"/>
              <a:sym typeface="Calibri"/>
            </a:endParaRPr>
          </a:p>
        </p:txBody>
      </p:sp>
      <p:sp>
        <p:nvSpPr>
          <p:cNvPr id="272" name="Google Shape;272;p14"/>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PHASE SPACE</a:t>
            </a:r>
            <a:endParaRPr b="0" i="0" sz="700" u="none" cap="none" strike="noStrike">
              <a:solidFill>
                <a:schemeClr val="dk1"/>
              </a:solidFill>
              <a:latin typeface="Calibri"/>
              <a:ea typeface="Calibri"/>
              <a:cs typeface="Calibri"/>
              <a:sym typeface="Calibri"/>
            </a:endParaRPr>
          </a:p>
        </p:txBody>
      </p:sp>
      <p:sp>
        <p:nvSpPr>
          <p:cNvPr id="276" name="Google Shape;276;p14"/>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12</a:t>
            </a:r>
            <a:endParaRPr b="0" i="0" sz="800" u="none" cap="none" strike="noStrike">
              <a:solidFill>
                <a:schemeClr val="dk1"/>
              </a:solidFill>
              <a:latin typeface="Calibri"/>
              <a:ea typeface="Calibri"/>
              <a:cs typeface="Calibri"/>
              <a:sym typeface="Calibri"/>
            </a:endParaRPr>
          </a:p>
        </p:txBody>
      </p:sp>
      <p:sp>
        <p:nvSpPr>
          <p:cNvPr id="277" name="Google Shape;277;p14"/>
          <p:cNvSpPr/>
          <p:nvPr/>
        </p:nvSpPr>
        <p:spPr>
          <a:xfrm>
            <a:off x="502920" y="987552"/>
            <a:ext cx="2468880" cy="2468880"/>
          </a:xfrm>
          <a:prstGeom prst="ellipse">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502920" y="987552"/>
            <a:ext cx="2468880" cy="2468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000"/>
              <a:buFont typeface="Quattrocento Sans"/>
              <a:buNone/>
            </a:pPr>
            <a:r>
              <a:rPr b="0" i="0" lang="en-US" sz="7000" u="none" cap="none" strike="noStrike">
                <a:solidFill>
                  <a:srgbClr val="000000"/>
                </a:solidFill>
                <a:latin typeface="Quattrocento Sans"/>
                <a:ea typeface="Quattrocento Sans"/>
                <a:cs typeface="Quattrocento Sans"/>
                <a:sym typeface="Quattrocento Sans"/>
              </a:rPr>
              <a:t>📊</a:t>
            </a:r>
            <a:endParaRPr b="0" i="0" sz="7000" u="none" cap="none" strike="noStrike">
              <a:solidFill>
                <a:schemeClr val="dk1"/>
              </a:solidFill>
              <a:latin typeface="Calibri"/>
              <a:ea typeface="Calibri"/>
              <a:cs typeface="Calibri"/>
              <a:sym typeface="Calibri"/>
            </a:endParaRPr>
          </a:p>
        </p:txBody>
      </p:sp>
      <p:sp>
        <p:nvSpPr>
          <p:cNvPr id="279" name="Google Shape;279;p14"/>
          <p:cNvSpPr/>
          <p:nvPr/>
        </p:nvSpPr>
        <p:spPr>
          <a:xfrm>
            <a:off x="3200400" y="987552"/>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80" name="Google Shape;280;p14"/>
          <p:cNvSpPr/>
          <p:nvPr/>
        </p:nvSpPr>
        <p:spPr>
          <a:xfrm>
            <a:off x="3730752" y="987552"/>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Generate first-draft marking criteria for a new assignment</a:t>
            </a:r>
            <a:endParaRPr b="0" i="0" sz="1300" u="none" cap="none" strike="noStrike">
              <a:solidFill>
                <a:schemeClr val="dk1"/>
              </a:solidFill>
              <a:latin typeface="Calibri"/>
              <a:ea typeface="Calibri"/>
              <a:cs typeface="Calibri"/>
              <a:sym typeface="Calibri"/>
            </a:endParaRPr>
          </a:p>
        </p:txBody>
      </p:sp>
      <p:sp>
        <p:nvSpPr>
          <p:cNvPr id="281" name="Google Shape;281;p14"/>
          <p:cNvSpPr/>
          <p:nvPr/>
        </p:nvSpPr>
        <p:spPr>
          <a:xfrm>
            <a:off x="3200400" y="1664208"/>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82" name="Google Shape;282;p14"/>
          <p:cNvSpPr/>
          <p:nvPr/>
        </p:nvSpPr>
        <p:spPr>
          <a:xfrm>
            <a:off x="3730752" y="1664208"/>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Draft personalised feedback from your own brief notes</a:t>
            </a:r>
            <a:endParaRPr b="0" i="0" sz="1300" u="none" cap="none" strike="noStrike">
              <a:solidFill>
                <a:schemeClr val="dk1"/>
              </a:solidFill>
              <a:latin typeface="Calibri"/>
              <a:ea typeface="Calibri"/>
              <a:cs typeface="Calibri"/>
              <a:sym typeface="Calibri"/>
            </a:endParaRPr>
          </a:p>
        </p:txBody>
      </p:sp>
      <p:sp>
        <p:nvSpPr>
          <p:cNvPr id="283" name="Google Shape;283;p14"/>
          <p:cNvSpPr/>
          <p:nvPr/>
        </p:nvSpPr>
        <p:spPr>
          <a:xfrm>
            <a:off x="3200400" y="2340864"/>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84" name="Google Shape;284;p14"/>
          <p:cNvSpPr/>
          <p:nvPr/>
        </p:nvSpPr>
        <p:spPr>
          <a:xfrm>
            <a:off x="3730752" y="2340864"/>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Check marking consistency across a script sample</a:t>
            </a:r>
            <a:endParaRPr b="0" i="0" sz="1300" u="none" cap="none" strike="noStrike">
              <a:solidFill>
                <a:schemeClr val="dk1"/>
              </a:solidFill>
              <a:latin typeface="Calibri"/>
              <a:ea typeface="Calibri"/>
              <a:cs typeface="Calibri"/>
              <a:sym typeface="Calibri"/>
            </a:endParaRPr>
          </a:p>
        </p:txBody>
      </p:sp>
      <p:sp>
        <p:nvSpPr>
          <p:cNvPr id="285" name="Google Shape;285;p14"/>
          <p:cNvSpPr/>
          <p:nvPr/>
        </p:nvSpPr>
        <p:spPr>
          <a:xfrm>
            <a:off x="3200400" y="3017520"/>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286" name="Google Shape;286;p14"/>
          <p:cNvSpPr/>
          <p:nvPr/>
        </p:nvSpPr>
        <p:spPr>
          <a:xfrm>
            <a:off x="3730752" y="3017520"/>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Translate verbal comments into written feedback language</a:t>
            </a:r>
            <a:endParaRPr b="0" i="0" sz="1300" u="none" cap="none" strike="noStrike">
              <a:solidFill>
                <a:schemeClr val="dk1"/>
              </a:solidFill>
              <a:latin typeface="Calibri"/>
              <a:ea typeface="Calibri"/>
              <a:cs typeface="Calibri"/>
              <a:sym typeface="Calibri"/>
            </a:endParaRPr>
          </a:p>
        </p:txBody>
      </p:sp>
      <p:sp>
        <p:nvSpPr>
          <p:cNvPr id="287" name="Google Shape;287;p14"/>
          <p:cNvSpPr/>
          <p:nvPr/>
        </p:nvSpPr>
        <p:spPr>
          <a:xfrm>
            <a:off x="3200400" y="3675888"/>
            <a:ext cx="5440680" cy="621792"/>
          </a:xfrm>
          <a:prstGeom prst="rect">
            <a:avLst/>
          </a:prstGeom>
          <a:solidFill>
            <a:srgbClr val="FFF0E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3200400" y="3675888"/>
            <a:ext cx="64008" cy="621792"/>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3383280" y="3703320"/>
            <a:ext cx="51206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A1A"/>
              </a:buClr>
              <a:buSzPts val="1150"/>
              <a:buFont typeface="Open Sans"/>
              <a:buNone/>
            </a:pPr>
            <a:r>
              <a:rPr b="1" i="0" lang="en-US" sz="1150" u="none" cap="none" strike="noStrike">
                <a:solidFill>
                  <a:srgbClr val="7A5A1A"/>
                </a:solidFill>
                <a:latin typeface="Open Sans"/>
                <a:ea typeface="Open Sans"/>
                <a:cs typeface="Open Sans"/>
                <a:sym typeface="Open Sans"/>
              </a:rPr>
              <a:t>You remain professionally accountable for every word that leaves under your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15"/>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The Alarm That Cries Wolf</a:t>
            </a:r>
            <a:endParaRPr b="0" i="0" sz="2500" u="none" cap="none" strike="noStrike">
              <a:solidFill>
                <a:schemeClr val="dk1"/>
              </a:solidFill>
              <a:latin typeface="Calibri"/>
              <a:ea typeface="Calibri"/>
              <a:cs typeface="Calibri"/>
              <a:sym typeface="Calibri"/>
            </a:endParaRPr>
          </a:p>
        </p:txBody>
      </p:sp>
      <p:sp>
        <p:nvSpPr>
          <p:cNvPr id="296" name="Google Shape;296;p15"/>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PHASE SPACE</a:t>
            </a:r>
            <a:endParaRPr b="0" i="0" sz="700" u="none" cap="none" strike="noStrike">
              <a:solidFill>
                <a:schemeClr val="dk1"/>
              </a:solidFill>
              <a:latin typeface="Calibri"/>
              <a:ea typeface="Calibri"/>
              <a:cs typeface="Calibri"/>
              <a:sym typeface="Calibri"/>
            </a:endParaRPr>
          </a:p>
        </p:txBody>
      </p:sp>
      <p:sp>
        <p:nvSpPr>
          <p:cNvPr id="300" name="Google Shape;300;p15"/>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13</a:t>
            </a:r>
            <a:endParaRPr b="0" i="0" sz="800" u="none" cap="none" strike="noStrike">
              <a:solidFill>
                <a:schemeClr val="dk1"/>
              </a:solidFill>
              <a:latin typeface="Calibri"/>
              <a:ea typeface="Calibri"/>
              <a:cs typeface="Calibri"/>
              <a:sym typeface="Calibri"/>
            </a:endParaRPr>
          </a:p>
        </p:txBody>
      </p:sp>
      <p:sp>
        <p:nvSpPr>
          <p:cNvPr id="301" name="Google Shape;301;p15"/>
          <p:cNvSpPr/>
          <p:nvPr/>
        </p:nvSpPr>
        <p:spPr>
          <a:xfrm>
            <a:off x="502920" y="1005840"/>
            <a:ext cx="2468880" cy="2468880"/>
          </a:xfrm>
          <a:prstGeom prst="ellipse">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502920" y="1005840"/>
            <a:ext cx="2468880" cy="2468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000"/>
              <a:buFont typeface="Quattrocento Sans"/>
              <a:buNone/>
            </a:pPr>
            <a:r>
              <a:rPr b="0" i="0" lang="en-US" sz="7000" u="none" cap="none" strike="noStrike">
                <a:solidFill>
                  <a:srgbClr val="000000"/>
                </a:solidFill>
                <a:latin typeface="Quattrocento Sans"/>
                <a:ea typeface="Quattrocento Sans"/>
                <a:cs typeface="Quattrocento Sans"/>
                <a:sym typeface="Quattrocento Sans"/>
              </a:rPr>
              <a:t>⚠️</a:t>
            </a:r>
            <a:endParaRPr b="0" i="0" sz="7000" u="none" cap="none" strike="noStrike">
              <a:solidFill>
                <a:schemeClr val="dk1"/>
              </a:solidFill>
              <a:latin typeface="Calibri"/>
              <a:ea typeface="Calibri"/>
              <a:cs typeface="Calibri"/>
              <a:sym typeface="Calibri"/>
            </a:endParaRPr>
          </a:p>
        </p:txBody>
      </p:sp>
      <p:sp>
        <p:nvSpPr>
          <p:cNvPr id="303" name="Google Shape;303;p15"/>
          <p:cNvSpPr/>
          <p:nvPr/>
        </p:nvSpPr>
        <p:spPr>
          <a:xfrm>
            <a:off x="3200400" y="1005840"/>
            <a:ext cx="5440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1A1A"/>
              </a:buClr>
              <a:buSzPts val="1500"/>
              <a:buFont typeface="Open Sans"/>
              <a:buNone/>
            </a:pPr>
            <a:r>
              <a:rPr b="1" i="0" lang="en-US" sz="1500" u="none" cap="none" strike="noStrike">
                <a:solidFill>
                  <a:srgbClr val="B81A1A"/>
                </a:solidFill>
                <a:latin typeface="Open Sans"/>
                <a:ea typeface="Open Sans"/>
                <a:cs typeface="Open Sans"/>
                <a:sym typeface="Open Sans"/>
              </a:rPr>
              <a:t>The Turnitin AI Detection Problem</a:t>
            </a:r>
            <a:endParaRPr b="0" i="0" sz="1500" u="none" cap="none" strike="noStrike">
              <a:solidFill>
                <a:schemeClr val="dk1"/>
              </a:solidFill>
              <a:latin typeface="Calibri"/>
              <a:ea typeface="Calibri"/>
              <a:cs typeface="Calibri"/>
              <a:sym typeface="Calibri"/>
            </a:endParaRPr>
          </a:p>
        </p:txBody>
      </p:sp>
      <p:sp>
        <p:nvSpPr>
          <p:cNvPr id="304" name="Google Shape;304;p15"/>
          <p:cNvSpPr/>
          <p:nvPr/>
        </p:nvSpPr>
        <p:spPr>
          <a:xfrm>
            <a:off x="3200400" y="1591056"/>
            <a:ext cx="256032" cy="256032"/>
          </a:xfrm>
          <a:prstGeom prst="ellipse">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3602736" y="1481328"/>
            <a:ext cx="503834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AI detection tools produce significant false positives on non-native English writing</a:t>
            </a:r>
            <a:endParaRPr b="0" i="0" sz="1200" u="none" cap="none" strike="noStrike">
              <a:solidFill>
                <a:schemeClr val="dk1"/>
              </a:solidFill>
              <a:latin typeface="Calibri"/>
              <a:ea typeface="Calibri"/>
              <a:cs typeface="Calibri"/>
              <a:sym typeface="Calibri"/>
            </a:endParaRPr>
          </a:p>
        </p:txBody>
      </p:sp>
      <p:sp>
        <p:nvSpPr>
          <p:cNvPr id="306" name="Google Shape;306;p15"/>
          <p:cNvSpPr/>
          <p:nvPr/>
        </p:nvSpPr>
        <p:spPr>
          <a:xfrm>
            <a:off x="3200400" y="2176272"/>
            <a:ext cx="256032" cy="256032"/>
          </a:xfrm>
          <a:prstGeom prst="ellipse">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3602736" y="2066544"/>
            <a:ext cx="503834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Sri Lankan students writing formal academic English are disproportionately flagged</a:t>
            </a:r>
            <a:endParaRPr b="0" i="0" sz="1200" u="none" cap="none" strike="noStrike">
              <a:solidFill>
                <a:schemeClr val="dk1"/>
              </a:solidFill>
              <a:latin typeface="Calibri"/>
              <a:ea typeface="Calibri"/>
              <a:cs typeface="Calibri"/>
              <a:sym typeface="Calibri"/>
            </a:endParaRPr>
          </a:p>
        </p:txBody>
      </p:sp>
      <p:sp>
        <p:nvSpPr>
          <p:cNvPr id="308" name="Google Shape;308;p15"/>
          <p:cNvSpPr/>
          <p:nvPr/>
        </p:nvSpPr>
        <p:spPr>
          <a:xfrm>
            <a:off x="3200400" y="2761488"/>
            <a:ext cx="256032" cy="256032"/>
          </a:xfrm>
          <a:prstGeom prst="ellipse">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3602736" y="2651760"/>
            <a:ext cx="503834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A high AI score is not evidence of AI use -- it is a signal to open a conversation</a:t>
            </a:r>
            <a:endParaRPr b="0" i="0" sz="1200" u="none" cap="none" strike="noStrike">
              <a:solidFill>
                <a:schemeClr val="dk1"/>
              </a:solidFill>
              <a:latin typeface="Calibri"/>
              <a:ea typeface="Calibri"/>
              <a:cs typeface="Calibri"/>
              <a:sym typeface="Calibri"/>
            </a:endParaRPr>
          </a:p>
        </p:txBody>
      </p:sp>
      <p:sp>
        <p:nvSpPr>
          <p:cNvPr id="310" name="Google Shape;310;p15"/>
          <p:cNvSpPr/>
          <p:nvPr/>
        </p:nvSpPr>
        <p:spPr>
          <a:xfrm>
            <a:off x="3200400" y="3346704"/>
            <a:ext cx="256032" cy="256032"/>
          </a:xfrm>
          <a:prstGeom prst="ellipse">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3602736" y="3236976"/>
            <a:ext cx="503834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200"/>
              <a:buFont typeface="Open Sans"/>
              <a:buNone/>
            </a:pPr>
            <a:r>
              <a:rPr b="0" i="0" lang="en-US" sz="1200" u="none" cap="none" strike="noStrike">
                <a:solidFill>
                  <a:srgbClr val="1A2535"/>
                </a:solidFill>
                <a:latin typeface="Open Sans"/>
                <a:ea typeface="Open Sans"/>
                <a:cs typeface="Open Sans"/>
                <a:sym typeface="Open Sans"/>
              </a:rPr>
              <a:t>No detection tool should trigger a sanction without human review and dialogue</a:t>
            </a:r>
            <a:endParaRPr b="0" i="0" sz="1200" u="none" cap="none" strike="noStrike">
              <a:solidFill>
                <a:schemeClr val="dk1"/>
              </a:solidFill>
              <a:latin typeface="Calibri"/>
              <a:ea typeface="Calibri"/>
              <a:cs typeface="Calibri"/>
              <a:sym typeface="Calibri"/>
            </a:endParaRPr>
          </a:p>
        </p:txBody>
      </p:sp>
      <p:sp>
        <p:nvSpPr>
          <p:cNvPr id="312" name="Google Shape;312;p15"/>
          <p:cNvSpPr/>
          <p:nvPr/>
        </p:nvSpPr>
        <p:spPr>
          <a:xfrm>
            <a:off x="3200400" y="3977640"/>
            <a:ext cx="5440680" cy="502920"/>
          </a:xfrm>
          <a:prstGeom prst="rect">
            <a:avLst/>
          </a:prstGeom>
          <a:solidFill>
            <a:srgbClr val="FDF0F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3337560" y="4005072"/>
            <a:ext cx="5166360" cy="4480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1A1A"/>
              </a:buClr>
              <a:buSzPts val="1150"/>
              <a:buFont typeface="Open Sans"/>
              <a:buNone/>
            </a:pPr>
            <a:r>
              <a:rPr b="0" i="1" lang="en-US" sz="1150" u="none" cap="none" strike="noStrike">
                <a:solidFill>
                  <a:srgbClr val="8A1A1A"/>
                </a:solidFill>
                <a:latin typeface="Open Sans"/>
                <a:ea typeface="Open Sans"/>
                <a:cs typeface="Open Sans"/>
                <a:sym typeface="Open Sans"/>
              </a:rPr>
              <a:t>An alarm that fires 40% of the time on non-fires is not a reliable alarm.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6"/>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You as Researcher</a:t>
            </a:r>
            <a:endParaRPr b="0" i="0" sz="2500" u="none" cap="none" strike="noStrike">
              <a:solidFill>
                <a:schemeClr val="dk1"/>
              </a:solidFill>
              <a:latin typeface="Calibri"/>
              <a:ea typeface="Calibri"/>
              <a:cs typeface="Calibri"/>
              <a:sym typeface="Calibri"/>
            </a:endParaRPr>
          </a:p>
        </p:txBody>
      </p:sp>
      <p:sp>
        <p:nvSpPr>
          <p:cNvPr id="320" name="Google Shape;320;p16"/>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PHASE SPACE</a:t>
            </a:r>
            <a:endParaRPr b="0" i="0" sz="700" u="none" cap="none" strike="noStrike">
              <a:solidFill>
                <a:schemeClr val="dk1"/>
              </a:solidFill>
              <a:latin typeface="Calibri"/>
              <a:ea typeface="Calibri"/>
              <a:cs typeface="Calibri"/>
              <a:sym typeface="Calibri"/>
            </a:endParaRPr>
          </a:p>
        </p:txBody>
      </p:sp>
      <p:sp>
        <p:nvSpPr>
          <p:cNvPr id="324" name="Google Shape;324;p16"/>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14</a:t>
            </a:r>
            <a:endParaRPr b="0" i="0" sz="800" u="none" cap="none" strike="noStrike">
              <a:solidFill>
                <a:schemeClr val="dk1"/>
              </a:solidFill>
              <a:latin typeface="Calibri"/>
              <a:ea typeface="Calibri"/>
              <a:cs typeface="Calibri"/>
              <a:sym typeface="Calibri"/>
            </a:endParaRPr>
          </a:p>
        </p:txBody>
      </p:sp>
      <p:sp>
        <p:nvSpPr>
          <p:cNvPr id="325" name="Google Shape;325;p16"/>
          <p:cNvSpPr/>
          <p:nvPr/>
        </p:nvSpPr>
        <p:spPr>
          <a:xfrm>
            <a:off x="502920" y="987552"/>
            <a:ext cx="2468880" cy="2468880"/>
          </a:xfrm>
          <a:prstGeom prst="ellipse">
            <a:avLst/>
          </a:prstGeom>
          <a:solidFill>
            <a:srgbClr val="1A2B3C"/>
          </a:solidFill>
          <a:ln cap="flat" cmpd="sng" w="1270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502920" y="987552"/>
            <a:ext cx="2468880" cy="2468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000"/>
              <a:buFont typeface="Quattrocento Sans"/>
              <a:buNone/>
            </a:pPr>
            <a:r>
              <a:rPr b="0" i="0" lang="en-US" sz="7000" u="none" cap="none" strike="noStrike">
                <a:solidFill>
                  <a:srgbClr val="000000"/>
                </a:solidFill>
                <a:latin typeface="Quattrocento Sans"/>
                <a:ea typeface="Quattrocento Sans"/>
                <a:cs typeface="Quattrocento Sans"/>
                <a:sym typeface="Quattrocento Sans"/>
              </a:rPr>
              <a:t>📚</a:t>
            </a:r>
            <a:endParaRPr b="0" i="0" sz="7000" u="none" cap="none" strike="noStrike">
              <a:solidFill>
                <a:schemeClr val="dk1"/>
              </a:solidFill>
              <a:latin typeface="Calibri"/>
              <a:ea typeface="Calibri"/>
              <a:cs typeface="Calibri"/>
              <a:sym typeface="Calibri"/>
            </a:endParaRPr>
          </a:p>
        </p:txBody>
      </p:sp>
      <p:sp>
        <p:nvSpPr>
          <p:cNvPr id="327" name="Google Shape;327;p16"/>
          <p:cNvSpPr/>
          <p:nvPr/>
        </p:nvSpPr>
        <p:spPr>
          <a:xfrm>
            <a:off x="3200400" y="987552"/>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328" name="Google Shape;328;p16"/>
          <p:cNvSpPr/>
          <p:nvPr/>
        </p:nvSpPr>
        <p:spPr>
          <a:xfrm>
            <a:off x="3730752" y="987552"/>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Scope a literature field before you search databases</a:t>
            </a:r>
            <a:endParaRPr b="0" i="0" sz="1300" u="none" cap="none" strike="noStrike">
              <a:solidFill>
                <a:schemeClr val="dk1"/>
              </a:solidFill>
              <a:latin typeface="Calibri"/>
              <a:ea typeface="Calibri"/>
              <a:cs typeface="Calibri"/>
              <a:sym typeface="Calibri"/>
            </a:endParaRPr>
          </a:p>
        </p:txBody>
      </p:sp>
      <p:sp>
        <p:nvSpPr>
          <p:cNvPr id="329" name="Google Shape;329;p16"/>
          <p:cNvSpPr/>
          <p:nvPr/>
        </p:nvSpPr>
        <p:spPr>
          <a:xfrm>
            <a:off x="3200400" y="1664208"/>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330" name="Google Shape;330;p16"/>
          <p:cNvSpPr/>
          <p:nvPr/>
        </p:nvSpPr>
        <p:spPr>
          <a:xfrm>
            <a:off x="3730752" y="1664208"/>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Stress-test your argument structure before you write</a:t>
            </a:r>
            <a:endParaRPr b="0" i="0" sz="1300" u="none" cap="none" strike="noStrike">
              <a:solidFill>
                <a:schemeClr val="dk1"/>
              </a:solidFill>
              <a:latin typeface="Calibri"/>
              <a:ea typeface="Calibri"/>
              <a:cs typeface="Calibri"/>
              <a:sym typeface="Calibri"/>
            </a:endParaRPr>
          </a:p>
        </p:txBody>
      </p:sp>
      <p:sp>
        <p:nvSpPr>
          <p:cNvPr id="331" name="Google Shape;331;p16"/>
          <p:cNvSpPr/>
          <p:nvPr/>
        </p:nvSpPr>
        <p:spPr>
          <a:xfrm>
            <a:off x="3200400" y="2340864"/>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332" name="Google Shape;332;p16"/>
          <p:cNvSpPr/>
          <p:nvPr/>
        </p:nvSpPr>
        <p:spPr>
          <a:xfrm>
            <a:off x="3730752" y="2340864"/>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Draft grant application language from bullet points</a:t>
            </a:r>
            <a:endParaRPr b="0" i="0" sz="1300" u="none" cap="none" strike="noStrike">
              <a:solidFill>
                <a:schemeClr val="dk1"/>
              </a:solidFill>
              <a:latin typeface="Calibri"/>
              <a:ea typeface="Calibri"/>
              <a:cs typeface="Calibri"/>
              <a:sym typeface="Calibri"/>
            </a:endParaRPr>
          </a:p>
        </p:txBody>
      </p:sp>
      <p:sp>
        <p:nvSpPr>
          <p:cNvPr id="333" name="Google Shape;333;p16"/>
          <p:cNvSpPr/>
          <p:nvPr/>
        </p:nvSpPr>
        <p:spPr>
          <a:xfrm>
            <a:off x="3200400" y="3017520"/>
            <a:ext cx="457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Quattrocento Sans"/>
              <a:buNone/>
            </a:pPr>
            <a:r>
              <a:rPr b="0" i="0" lang="en-US" sz="2000" u="none" cap="none" strike="noStrike">
                <a:solidFill>
                  <a:srgbClr val="000000"/>
                </a:solidFill>
                <a:latin typeface="Quattrocento Sans"/>
                <a:ea typeface="Quattrocento Sans"/>
                <a:cs typeface="Quattrocento Sans"/>
                <a:sym typeface="Quattrocento Sans"/>
              </a:rPr>
              <a:t>📌</a:t>
            </a:r>
            <a:endParaRPr b="0" i="0" sz="2000" u="none" cap="none" strike="noStrike">
              <a:solidFill>
                <a:schemeClr val="dk1"/>
              </a:solidFill>
              <a:latin typeface="Calibri"/>
              <a:ea typeface="Calibri"/>
              <a:cs typeface="Calibri"/>
              <a:sym typeface="Calibri"/>
            </a:endParaRPr>
          </a:p>
        </p:txBody>
      </p:sp>
      <p:sp>
        <p:nvSpPr>
          <p:cNvPr id="334" name="Google Shape;334;p16"/>
          <p:cNvSpPr/>
          <p:nvPr/>
        </p:nvSpPr>
        <p:spPr>
          <a:xfrm>
            <a:off x="3730752" y="3017520"/>
            <a:ext cx="49103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300"/>
              <a:buFont typeface="Open Sans"/>
              <a:buNone/>
            </a:pPr>
            <a:r>
              <a:rPr b="0" i="0" lang="en-US" sz="1300" u="none" cap="none" strike="noStrike">
                <a:solidFill>
                  <a:srgbClr val="1A2535"/>
                </a:solidFill>
                <a:latin typeface="Open Sans"/>
                <a:ea typeface="Open Sans"/>
                <a:cs typeface="Open Sans"/>
                <a:sym typeface="Open Sans"/>
              </a:rPr>
              <a:t>Synthesise 10 abstracts into a thematic overview draft</a:t>
            </a:r>
            <a:endParaRPr b="0" i="0" sz="1300" u="none" cap="none" strike="noStrike">
              <a:solidFill>
                <a:schemeClr val="dk1"/>
              </a:solidFill>
              <a:latin typeface="Calibri"/>
              <a:ea typeface="Calibri"/>
              <a:cs typeface="Calibri"/>
              <a:sym typeface="Calibri"/>
            </a:endParaRPr>
          </a:p>
        </p:txBody>
      </p:sp>
      <p:sp>
        <p:nvSpPr>
          <p:cNvPr id="335" name="Google Shape;335;p16"/>
          <p:cNvSpPr/>
          <p:nvPr/>
        </p:nvSpPr>
        <p:spPr>
          <a:xfrm>
            <a:off x="3200400" y="3675888"/>
            <a:ext cx="5440680" cy="621792"/>
          </a:xfrm>
          <a:prstGeom prst="rect">
            <a:avLst/>
          </a:prstGeom>
          <a:solidFill>
            <a:srgbClr val="F6F8FA"/>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3200400" y="3675888"/>
            <a:ext cx="64008" cy="621792"/>
          </a:xfrm>
          <a:prstGeom prst="rect">
            <a:avLst/>
          </a:prstGeom>
          <a:solidFill>
            <a:srgbClr val="1A2B3C"/>
          </a:solidFill>
          <a:ln cap="flat" cmpd="sng" w="1270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3383280" y="3703320"/>
            <a:ext cx="51206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Open Sans"/>
              <a:buNone/>
            </a:pPr>
            <a:r>
              <a:rPr b="1" i="0" lang="en-US" sz="1150" u="none" cap="none" strike="noStrike">
                <a:solidFill>
                  <a:srgbClr val="1A2B3C"/>
                </a:solidFill>
                <a:latin typeface="Open Sans"/>
                <a:ea typeface="Open Sans"/>
                <a:cs typeface="Open Sans"/>
                <a:sym typeface="Open Sans"/>
              </a:rPr>
              <a:t>The next slide explains why every source AI names must be verified independently.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342" name="Shape 342"/>
        <p:cNvGrpSpPr/>
        <p:nvPr/>
      </p:nvGrpSpPr>
      <p:grpSpPr>
        <a:xfrm>
          <a:off x="0" y="0"/>
          <a:ext cx="0" cy="0"/>
          <a:chOff x="0" y="0"/>
          <a:chExt cx="0" cy="0"/>
        </a:xfrm>
      </p:grpSpPr>
      <p:sp>
        <p:nvSpPr>
          <p:cNvPr id="343" name="Google Shape;343;p17"/>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PHASE SPACE</a:t>
            </a:r>
            <a:endParaRPr b="0" i="0" sz="700" u="none" cap="none" strike="noStrike">
              <a:solidFill>
                <a:schemeClr val="dk1"/>
              </a:solidFill>
              <a:latin typeface="Calibri"/>
              <a:ea typeface="Calibri"/>
              <a:cs typeface="Calibri"/>
              <a:sym typeface="Calibri"/>
            </a:endParaRPr>
          </a:p>
        </p:txBody>
      </p:sp>
      <p:sp>
        <p:nvSpPr>
          <p:cNvPr id="345" name="Google Shape;345;p17"/>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15</a:t>
            </a:r>
            <a:endParaRPr b="0" i="0" sz="800" u="none" cap="none" strike="noStrike">
              <a:solidFill>
                <a:schemeClr val="dk1"/>
              </a:solidFill>
              <a:latin typeface="Calibri"/>
              <a:ea typeface="Calibri"/>
              <a:cs typeface="Calibri"/>
              <a:sym typeface="Calibri"/>
            </a:endParaRPr>
          </a:p>
        </p:txBody>
      </p:sp>
      <p:sp>
        <p:nvSpPr>
          <p:cNvPr id="346" name="Google Shape;346;p17"/>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B81A1A"/>
              </a:buClr>
              <a:buSzPts val="2500"/>
              <a:buFont typeface="Open Sans"/>
              <a:buNone/>
            </a:pPr>
            <a:r>
              <a:rPr b="1" i="0" lang="en-US" sz="2500" u="none" cap="none" strike="noStrike">
                <a:solidFill>
                  <a:srgbClr val="B81A1A"/>
                </a:solidFill>
                <a:latin typeface="Open Sans"/>
                <a:ea typeface="Open Sans"/>
                <a:cs typeface="Open Sans"/>
                <a:sym typeface="Open Sans"/>
              </a:rPr>
              <a:t>This Reference Does Not Exist.</a:t>
            </a:r>
            <a:endParaRPr b="0" i="0" sz="2500" u="none" cap="none" strike="noStrike">
              <a:solidFill>
                <a:schemeClr val="dk1"/>
              </a:solidFill>
              <a:latin typeface="Calibri"/>
              <a:ea typeface="Calibri"/>
              <a:cs typeface="Calibri"/>
              <a:sym typeface="Calibri"/>
            </a:endParaRPr>
          </a:p>
        </p:txBody>
      </p:sp>
      <p:sp>
        <p:nvSpPr>
          <p:cNvPr id="347" name="Google Shape;347;p17"/>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685800" y="950976"/>
            <a:ext cx="7772400" cy="1883664"/>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685800" y="950976"/>
            <a:ext cx="64008" cy="1883664"/>
          </a:xfrm>
          <a:prstGeom prst="rect">
            <a:avLst/>
          </a:prstGeom>
          <a:solidFill>
            <a:srgbClr val="B81A1A"/>
          </a:solidFill>
          <a:ln cap="flat" cmpd="sng" w="12700">
            <a:solidFill>
              <a:srgbClr val="B8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914400" y="1005840"/>
            <a:ext cx="7406640" cy="17190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450"/>
              <a:buFont typeface="Calibri"/>
              <a:buNone/>
            </a:pPr>
            <a:r>
              <a:rPr b="0" i="0" lang="en-US" sz="1450" u="none" cap="none" strike="noStrike">
                <a:solidFill>
                  <a:srgbClr val="1A2535"/>
                </a:solidFill>
                <a:latin typeface="Calibri"/>
                <a:ea typeface="Calibri"/>
                <a:cs typeface="Calibri"/>
                <a:sym typeface="Calibri"/>
              </a:rPr>
              <a:t>Wijesinghe, R. K., &amp; Perera, L. (2023). Integrating digital tools in Sri Lankan tertiary classrooms: A systematic review. Journal of South Asian Educational Research, 11(3), 44-62. DOI: 10.1177/jsaer.2023.0311</a:t>
            </a:r>
            <a:endParaRPr b="0" i="0" sz="1450" u="none" cap="none" strike="noStrike">
              <a:solidFill>
                <a:schemeClr val="dk1"/>
              </a:solidFill>
              <a:latin typeface="Calibri"/>
              <a:ea typeface="Calibri"/>
              <a:cs typeface="Calibri"/>
              <a:sym typeface="Calibri"/>
            </a:endParaRPr>
          </a:p>
        </p:txBody>
      </p:sp>
      <p:sp>
        <p:nvSpPr>
          <p:cNvPr id="352" name="Google Shape;352;p17"/>
          <p:cNvSpPr/>
          <p:nvPr/>
        </p:nvSpPr>
        <p:spPr>
          <a:xfrm rot="-600000">
            <a:off x="4206240" y="1234440"/>
            <a:ext cx="3291840" cy="658368"/>
          </a:xfrm>
          <a:prstGeom prst="rect">
            <a:avLst/>
          </a:prstGeom>
          <a:solidFill>
            <a:srgbClr val="FFFFFF">
              <a:alpha val="85098"/>
            </a:srgbClr>
          </a:solidFill>
          <a:ln cap="flat" cmpd="sng" w="38100">
            <a:solidFill>
              <a:srgbClr val="CC22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7"/>
          <p:cNvSpPr/>
          <p:nvPr/>
        </p:nvSpPr>
        <p:spPr>
          <a:xfrm rot="-600000">
            <a:off x="4206240" y="1234440"/>
            <a:ext cx="32918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2222"/>
              </a:buClr>
              <a:buSzPts val="3600"/>
              <a:buFont typeface="Open Sans"/>
              <a:buNone/>
            </a:pPr>
            <a:r>
              <a:rPr b="1" i="0" lang="en-US" sz="3600" u="none" cap="none" strike="noStrike">
                <a:solidFill>
                  <a:srgbClr val="CC2222"/>
                </a:solidFill>
                <a:latin typeface="Open Sans"/>
                <a:ea typeface="Open Sans"/>
                <a:cs typeface="Open Sans"/>
                <a:sym typeface="Open Sans"/>
              </a:rPr>
              <a:t>FABRICATED</a:t>
            </a:r>
            <a:endParaRPr b="0" i="0" sz="3600" u="none" cap="none" strike="noStrike">
              <a:solidFill>
                <a:schemeClr val="dk1"/>
              </a:solidFill>
              <a:latin typeface="Calibri"/>
              <a:ea typeface="Calibri"/>
              <a:cs typeface="Calibri"/>
              <a:sym typeface="Calibri"/>
            </a:endParaRPr>
          </a:p>
        </p:txBody>
      </p:sp>
      <p:sp>
        <p:nvSpPr>
          <p:cNvPr id="354" name="Google Shape;354;p17"/>
          <p:cNvSpPr/>
          <p:nvPr/>
        </p:nvSpPr>
        <p:spPr>
          <a:xfrm>
            <a:off x="502920" y="2944368"/>
            <a:ext cx="8138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535"/>
              </a:buClr>
              <a:buSzPts val="1400"/>
              <a:buFont typeface="Open Sans"/>
              <a:buNone/>
            </a:pPr>
            <a:r>
              <a:rPr b="1" i="0" lang="en-US" sz="1400" u="none" cap="none" strike="noStrike">
                <a:solidFill>
                  <a:srgbClr val="1A2535"/>
                </a:solidFill>
                <a:latin typeface="Open Sans"/>
                <a:ea typeface="Open Sans"/>
                <a:cs typeface="Open Sans"/>
                <a:sym typeface="Open Sans"/>
              </a:rPr>
              <a:t>AI language models do not retrieve. They predict. Predictions look exactly like facts.</a:t>
            </a:r>
            <a:endParaRPr b="0" i="0" sz="1400" u="none" cap="none" strike="noStrike">
              <a:solidFill>
                <a:schemeClr val="dk1"/>
              </a:solidFill>
              <a:latin typeface="Calibri"/>
              <a:ea typeface="Calibri"/>
              <a:cs typeface="Calibri"/>
              <a:sym typeface="Calibri"/>
            </a:endParaRPr>
          </a:p>
        </p:txBody>
      </p:sp>
      <p:sp>
        <p:nvSpPr>
          <p:cNvPr id="355" name="Google Shape;355;p17"/>
          <p:cNvSpPr/>
          <p:nvPr/>
        </p:nvSpPr>
        <p:spPr>
          <a:xfrm>
            <a:off x="502920" y="3401568"/>
            <a:ext cx="8138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E70"/>
              </a:buClr>
              <a:buSzPts val="1300"/>
              <a:buFont typeface="Open Sans"/>
              <a:buNone/>
            </a:pPr>
            <a:r>
              <a:rPr b="0" i="0" lang="en-US" sz="1300" u="none" cap="none" strike="noStrike">
                <a:solidFill>
                  <a:srgbClr val="4A5E70"/>
                </a:solidFill>
                <a:latin typeface="Open Sans"/>
                <a:ea typeface="Open Sans"/>
                <a:cs typeface="Open Sans"/>
                <a:sym typeface="Open Sans"/>
              </a:rPr>
              <a:t>The journal name, volume, page numbers, authors, and DOI are all plausible. None of them exist.</a:t>
            </a:r>
            <a:endParaRPr b="0" i="0" sz="1300" u="none" cap="none" strike="noStrike">
              <a:solidFill>
                <a:schemeClr val="dk1"/>
              </a:solidFill>
              <a:latin typeface="Calibri"/>
              <a:ea typeface="Calibri"/>
              <a:cs typeface="Calibri"/>
              <a:sym typeface="Calibri"/>
            </a:endParaRPr>
          </a:p>
        </p:txBody>
      </p:sp>
      <p:sp>
        <p:nvSpPr>
          <p:cNvPr id="356" name="Google Shape;356;p17"/>
          <p:cNvSpPr/>
          <p:nvPr/>
        </p:nvSpPr>
        <p:spPr>
          <a:xfrm>
            <a:off x="2331720" y="3931920"/>
            <a:ext cx="4480560" cy="566928"/>
          </a:xfrm>
          <a:prstGeom prst="rect">
            <a:avLst/>
          </a:prstGeom>
          <a:solidFill>
            <a:srgbClr val="FDF0F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a:off x="2331720" y="3931920"/>
            <a:ext cx="44805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1A1A"/>
              </a:buClr>
              <a:buSzPts val="1800"/>
              <a:buFont typeface="Open Sans"/>
              <a:buNone/>
            </a:pPr>
            <a:r>
              <a:rPr b="1" i="0" lang="en-US" sz="1800" u="none" cap="none" strike="noStrike">
                <a:solidFill>
                  <a:srgbClr val="B81A1A"/>
                </a:solidFill>
                <a:latin typeface="Open Sans"/>
                <a:ea typeface="Open Sans"/>
                <a:cs typeface="Open Sans"/>
                <a:sym typeface="Open Sans"/>
              </a:rPr>
              <a:t>Would you have caught it?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3C"/>
        </a:solidFill>
      </p:bgPr>
    </p:bg>
    <p:spTree>
      <p:nvGrpSpPr>
        <p:cNvPr id="362" name="Shape 362"/>
        <p:cNvGrpSpPr/>
        <p:nvPr/>
      </p:nvGrpSpPr>
      <p:grpSpPr>
        <a:xfrm>
          <a:off x="0" y="0"/>
          <a:ext cx="0" cy="0"/>
          <a:chOff x="0" y="0"/>
          <a:chExt cx="0" cy="0"/>
        </a:xfrm>
      </p:grpSpPr>
      <p:sp>
        <p:nvSpPr>
          <p:cNvPr id="363" name="Google Shape;363;p18"/>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6070"/>
              </a:buClr>
              <a:buSzPts val="800"/>
              <a:buFont typeface="Open Sans"/>
              <a:buNone/>
            </a:pPr>
            <a:r>
              <a:rPr b="0" i="0" lang="en-US" sz="800" u="none" cap="none" strike="noStrike">
                <a:solidFill>
                  <a:srgbClr val="456070"/>
                </a:solidFill>
                <a:latin typeface="Open Sans"/>
                <a:ea typeface="Open Sans"/>
                <a:cs typeface="Open Sans"/>
                <a:sym typeface="Open Sans"/>
              </a:rPr>
              <a:t>16</a:t>
            </a:r>
            <a:endParaRPr b="0" i="0" sz="800" u="none" cap="none" strike="noStrike">
              <a:solidFill>
                <a:schemeClr val="dk1"/>
              </a:solidFill>
              <a:latin typeface="Calibri"/>
              <a:ea typeface="Calibri"/>
              <a:cs typeface="Calibri"/>
              <a:sym typeface="Calibri"/>
            </a:endParaRPr>
          </a:p>
        </p:txBody>
      </p:sp>
      <p:sp>
        <p:nvSpPr>
          <p:cNvPr id="364" name="Google Shape;364;p18"/>
          <p:cNvSpPr/>
          <p:nvPr/>
        </p:nvSpPr>
        <p:spPr>
          <a:xfrm>
            <a:off x="457200" y="164592"/>
            <a:ext cx="8229600"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Open Sans"/>
              <a:buNone/>
            </a:pPr>
            <a:r>
              <a:rPr b="1" i="0" lang="en-US" sz="2600" u="none" cap="none" strike="noStrike">
                <a:solidFill>
                  <a:srgbClr val="FFFFFF"/>
                </a:solidFill>
                <a:latin typeface="Open Sans"/>
                <a:ea typeface="Open Sans"/>
                <a:cs typeface="Open Sans"/>
                <a:sym typeface="Open Sans"/>
              </a:rPr>
              <a:t>The Questions Your Faculty Needs to Own</a:t>
            </a:r>
            <a:endParaRPr b="0" i="0" sz="2600" u="none" cap="none" strike="noStrike">
              <a:solidFill>
                <a:schemeClr val="dk1"/>
              </a:solidFill>
              <a:latin typeface="Calibri"/>
              <a:ea typeface="Calibri"/>
              <a:cs typeface="Calibri"/>
              <a:sym typeface="Calibri"/>
            </a:endParaRPr>
          </a:p>
        </p:txBody>
      </p:sp>
      <p:sp>
        <p:nvSpPr>
          <p:cNvPr id="365" name="Google Shape;365;p18"/>
          <p:cNvSpPr/>
          <p:nvPr/>
        </p:nvSpPr>
        <p:spPr>
          <a:xfrm>
            <a:off x="3017520" y="713232"/>
            <a:ext cx="1927555"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4945075" y="713232"/>
            <a:ext cx="1181405"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502920" y="1024128"/>
            <a:ext cx="8138160" cy="960120"/>
          </a:xfrm>
          <a:prstGeom prst="rect">
            <a:avLst/>
          </a:prstGeom>
          <a:solidFill>
            <a:srgbClr val="1E3040"/>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94944" y="1261872"/>
            <a:ext cx="512064" cy="512064"/>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694944" y="1261872"/>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1</a:t>
            </a:r>
            <a:endParaRPr b="0" i="0" sz="1500" u="none" cap="none" strike="noStrike">
              <a:solidFill>
                <a:schemeClr val="dk1"/>
              </a:solidFill>
              <a:latin typeface="Calibri"/>
              <a:ea typeface="Calibri"/>
              <a:cs typeface="Calibri"/>
              <a:sym typeface="Calibri"/>
            </a:endParaRPr>
          </a:p>
        </p:txBody>
      </p:sp>
      <p:sp>
        <p:nvSpPr>
          <p:cNvPr id="370" name="Google Shape;370;p18"/>
          <p:cNvSpPr/>
          <p:nvPr/>
        </p:nvSpPr>
        <p:spPr>
          <a:xfrm>
            <a:off x="1389888" y="1161288"/>
            <a:ext cx="7040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D4E8"/>
              </a:buClr>
              <a:buSzPts val="1450"/>
              <a:buFont typeface="Open Sans"/>
              <a:buNone/>
            </a:pPr>
            <a:r>
              <a:rPr b="0" i="0" lang="en-US" sz="1450" u="none" cap="none" strike="noStrike">
                <a:solidFill>
                  <a:srgbClr val="C0D4E8"/>
                </a:solidFill>
                <a:latin typeface="Open Sans"/>
                <a:ea typeface="Open Sans"/>
                <a:cs typeface="Open Sans"/>
                <a:sym typeface="Open Sans"/>
              </a:rPr>
              <a:t>Does your faculty have an AI disclosure policy?</a:t>
            </a:r>
            <a:endParaRPr b="0" i="0" sz="1450" u="none" cap="none" strike="noStrike">
              <a:solidFill>
                <a:schemeClr val="dk1"/>
              </a:solidFill>
              <a:latin typeface="Calibri"/>
              <a:ea typeface="Calibri"/>
              <a:cs typeface="Calibri"/>
              <a:sym typeface="Calibri"/>
            </a:endParaRPr>
          </a:p>
        </p:txBody>
      </p:sp>
      <p:sp>
        <p:nvSpPr>
          <p:cNvPr id="371" name="Google Shape;371;p18"/>
          <p:cNvSpPr/>
          <p:nvPr/>
        </p:nvSpPr>
        <p:spPr>
          <a:xfrm>
            <a:off x="502920" y="2139696"/>
            <a:ext cx="8138160" cy="960120"/>
          </a:xfrm>
          <a:prstGeom prst="rect">
            <a:avLst/>
          </a:prstGeom>
          <a:solidFill>
            <a:srgbClr val="1E3040"/>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694944" y="2377440"/>
            <a:ext cx="512064" cy="512064"/>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
          <p:cNvSpPr/>
          <p:nvPr/>
        </p:nvSpPr>
        <p:spPr>
          <a:xfrm>
            <a:off x="694944" y="2377440"/>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2</a:t>
            </a:r>
            <a:endParaRPr b="0" i="0" sz="1500" u="none" cap="none" strike="noStrike">
              <a:solidFill>
                <a:schemeClr val="dk1"/>
              </a:solidFill>
              <a:latin typeface="Calibri"/>
              <a:ea typeface="Calibri"/>
              <a:cs typeface="Calibri"/>
              <a:sym typeface="Calibri"/>
            </a:endParaRPr>
          </a:p>
        </p:txBody>
      </p:sp>
      <p:sp>
        <p:nvSpPr>
          <p:cNvPr id="374" name="Google Shape;374;p18"/>
          <p:cNvSpPr/>
          <p:nvPr/>
        </p:nvSpPr>
        <p:spPr>
          <a:xfrm>
            <a:off x="1389888" y="2276856"/>
            <a:ext cx="7040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D4E8"/>
              </a:buClr>
              <a:buSzPts val="1450"/>
              <a:buFont typeface="Open Sans"/>
              <a:buNone/>
            </a:pPr>
            <a:r>
              <a:rPr b="0" i="0" lang="en-US" sz="1450" u="none" cap="none" strike="noStrike">
                <a:solidFill>
                  <a:srgbClr val="C0D4E8"/>
                </a:solidFill>
                <a:latin typeface="Open Sans"/>
                <a:ea typeface="Open Sans"/>
                <a:cs typeface="Open Sans"/>
                <a:sym typeface="Open Sans"/>
              </a:rPr>
              <a:t>If a student substantially directs AI to produce work, is that plagiarism?</a:t>
            </a:r>
            <a:endParaRPr b="0" i="0" sz="1450" u="none" cap="none" strike="noStrike">
              <a:solidFill>
                <a:schemeClr val="dk1"/>
              </a:solidFill>
              <a:latin typeface="Calibri"/>
              <a:ea typeface="Calibri"/>
              <a:cs typeface="Calibri"/>
              <a:sym typeface="Calibri"/>
            </a:endParaRPr>
          </a:p>
        </p:txBody>
      </p:sp>
      <p:sp>
        <p:nvSpPr>
          <p:cNvPr id="375" name="Google Shape;375;p18"/>
          <p:cNvSpPr/>
          <p:nvPr/>
        </p:nvSpPr>
        <p:spPr>
          <a:xfrm>
            <a:off x="502920" y="3255264"/>
            <a:ext cx="8138160" cy="960120"/>
          </a:xfrm>
          <a:prstGeom prst="rect">
            <a:avLst/>
          </a:prstGeom>
          <a:solidFill>
            <a:srgbClr val="1E3040"/>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694944" y="3493008"/>
            <a:ext cx="512064" cy="512064"/>
          </a:xfrm>
          <a:prstGeom prst="ellipse">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694944" y="34930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Open Sans"/>
              <a:buNone/>
            </a:pPr>
            <a:r>
              <a:rPr b="1" i="0" lang="en-US" sz="1500" u="none" cap="none" strike="noStrike">
                <a:solidFill>
                  <a:srgbClr val="FFFFFF"/>
                </a:solidFill>
                <a:latin typeface="Open Sans"/>
                <a:ea typeface="Open Sans"/>
                <a:cs typeface="Open Sans"/>
                <a:sym typeface="Open Sans"/>
              </a:rPr>
              <a:t>3</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1389888" y="3392424"/>
            <a:ext cx="7040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D4E8"/>
              </a:buClr>
              <a:buSzPts val="1450"/>
              <a:buFont typeface="Open Sans"/>
              <a:buNone/>
            </a:pPr>
            <a:r>
              <a:rPr b="0" i="0" lang="en-US" sz="1450" u="none" cap="none" strike="noStrike">
                <a:solidFill>
                  <a:srgbClr val="C0D4E8"/>
                </a:solidFill>
                <a:latin typeface="Open Sans"/>
                <a:ea typeface="Open Sans"/>
                <a:cs typeface="Open Sans"/>
                <a:sym typeface="Open Sans"/>
              </a:rPr>
              <a:t>If you use AI to draft feedback, are you still professionally accountable for it?</a:t>
            </a:r>
            <a:endParaRPr b="0" i="0" sz="1450" u="none" cap="none" strike="noStrike">
              <a:solidFill>
                <a:schemeClr val="dk1"/>
              </a:solidFill>
              <a:latin typeface="Calibri"/>
              <a:ea typeface="Calibri"/>
              <a:cs typeface="Calibri"/>
              <a:sym typeface="Calibri"/>
            </a:endParaRPr>
          </a:p>
        </p:txBody>
      </p:sp>
      <p:sp>
        <p:nvSpPr>
          <p:cNvPr id="379" name="Google Shape;379;p18"/>
          <p:cNvSpPr/>
          <p:nvPr/>
        </p:nvSpPr>
        <p:spPr>
          <a:xfrm>
            <a:off x="457200" y="4315968"/>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350"/>
              <a:buFont typeface="Open Sans"/>
              <a:buNone/>
            </a:pPr>
            <a:r>
              <a:rPr b="1" i="1" lang="en-US" sz="1350" u="none" cap="none" strike="noStrike">
                <a:solidFill>
                  <a:srgbClr val="E8831A"/>
                </a:solidFill>
                <a:latin typeface="Open Sans"/>
                <a:ea typeface="Open Sans"/>
                <a:cs typeface="Open Sans"/>
                <a:sym typeface="Open Sans"/>
              </a:rPr>
              <a:t>These are not rhetorical.</a:t>
            </a:r>
            <a:endParaRPr b="0" i="0" sz="1350" u="none" cap="none" strike="noStrike">
              <a:solidFill>
                <a:schemeClr val="dk1"/>
              </a:solidFill>
              <a:latin typeface="Calibri"/>
              <a:ea typeface="Calibri"/>
              <a:cs typeface="Calibri"/>
              <a:sym typeface="Calibri"/>
            </a:endParaRPr>
          </a:p>
        </p:txBody>
      </p:sp>
      <p:sp>
        <p:nvSpPr>
          <p:cNvPr id="380" name="Google Shape;380;p18"/>
          <p:cNvSpPr/>
          <p:nvPr/>
        </p:nvSpPr>
        <p:spPr>
          <a:xfrm>
            <a:off x="502920" y="4828032"/>
            <a:ext cx="32004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6070"/>
              </a:buClr>
              <a:buSzPts val="700"/>
              <a:buFont typeface="Open Sans"/>
              <a:buNone/>
            </a:pPr>
            <a:r>
              <a:rPr b="1" i="0" lang="en-US" sz="700" u="none" cap="none" strike="noStrike">
                <a:solidFill>
                  <a:srgbClr val="456070"/>
                </a:solidFill>
                <a:latin typeface="Open Sans"/>
                <a:ea typeface="Open Sans"/>
                <a:cs typeface="Open Sans"/>
                <a:sym typeface="Open Sans"/>
              </a:rPr>
              <a:t>SECTION 5  --  STRANGE ATTRACTORS</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19"/>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A Policy Seed</a:t>
            </a:r>
            <a:endParaRPr b="0" i="0" sz="2500" u="none" cap="none" strike="noStrike">
              <a:solidFill>
                <a:schemeClr val="dk1"/>
              </a:solidFill>
              <a:latin typeface="Calibri"/>
              <a:ea typeface="Calibri"/>
              <a:cs typeface="Calibri"/>
              <a:sym typeface="Calibri"/>
            </a:endParaRPr>
          </a:p>
        </p:txBody>
      </p:sp>
      <p:sp>
        <p:nvSpPr>
          <p:cNvPr id="387" name="Google Shape;387;p19"/>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STRANGE ATTRACTORS</a:t>
            </a:r>
            <a:endParaRPr b="0" i="0" sz="700" u="none" cap="none" strike="noStrike">
              <a:solidFill>
                <a:schemeClr val="dk1"/>
              </a:solidFill>
              <a:latin typeface="Calibri"/>
              <a:ea typeface="Calibri"/>
              <a:cs typeface="Calibri"/>
              <a:sym typeface="Calibri"/>
            </a:endParaRPr>
          </a:p>
        </p:txBody>
      </p:sp>
      <p:sp>
        <p:nvSpPr>
          <p:cNvPr id="391" name="Google Shape;391;p19"/>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17</a:t>
            </a:r>
            <a:endParaRPr b="0" i="0" sz="800" u="none" cap="none" strike="noStrike">
              <a:solidFill>
                <a:schemeClr val="dk1"/>
              </a:solidFill>
              <a:latin typeface="Calibri"/>
              <a:ea typeface="Calibri"/>
              <a:cs typeface="Calibri"/>
              <a:sym typeface="Calibri"/>
            </a:endParaRPr>
          </a:p>
        </p:txBody>
      </p:sp>
      <p:sp>
        <p:nvSpPr>
          <p:cNvPr id="392" name="Google Shape;392;p19"/>
          <p:cNvSpPr/>
          <p:nvPr/>
        </p:nvSpPr>
        <p:spPr>
          <a:xfrm>
            <a:off x="502920" y="859536"/>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70"/>
              </a:buClr>
              <a:buSzPts val="1300"/>
              <a:buFont typeface="Open Sans"/>
              <a:buNone/>
            </a:pPr>
            <a:r>
              <a:rPr b="0" i="1" lang="en-US" sz="1300" u="none" cap="none" strike="noStrike">
                <a:solidFill>
                  <a:srgbClr val="4A5E70"/>
                </a:solidFill>
                <a:latin typeface="Open Sans"/>
                <a:ea typeface="Open Sans"/>
                <a:cs typeface="Open Sans"/>
                <a:sym typeface="Open Sans"/>
              </a:rPr>
              <a:t>What responsible use looks like before a formal policy exists:</a:t>
            </a:r>
            <a:endParaRPr b="0" i="0" sz="1300" u="none" cap="none" strike="noStrike">
              <a:solidFill>
                <a:schemeClr val="dk1"/>
              </a:solidFill>
              <a:latin typeface="Calibri"/>
              <a:ea typeface="Calibri"/>
              <a:cs typeface="Calibri"/>
              <a:sym typeface="Calibri"/>
            </a:endParaRPr>
          </a:p>
        </p:txBody>
      </p:sp>
      <p:sp>
        <p:nvSpPr>
          <p:cNvPr id="393" name="Google Shape;393;p19"/>
          <p:cNvSpPr/>
          <p:nvPr/>
        </p:nvSpPr>
        <p:spPr>
          <a:xfrm>
            <a:off x="502920" y="1261872"/>
            <a:ext cx="2560320" cy="333756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1280160" y="1426464"/>
            <a:ext cx="1005840" cy="1005840"/>
          </a:xfrm>
          <a:prstGeom prst="ellipse">
            <a:avLst/>
          </a:prstGeom>
          <a:solidFill>
            <a:srgbClr val="E0F4F6"/>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1280160" y="1426464"/>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200"/>
              <a:buFont typeface="Quattrocento Sans"/>
              <a:buNone/>
            </a:pPr>
            <a:r>
              <a:rPr b="0" i="0" lang="en-US" sz="3200" u="none" cap="none" strike="noStrike">
                <a:solidFill>
                  <a:srgbClr val="000000"/>
                </a:solidFill>
                <a:latin typeface="Quattrocento Sans"/>
                <a:ea typeface="Quattrocento Sans"/>
                <a:cs typeface="Quattrocento Sans"/>
                <a:sym typeface="Quattrocento Sans"/>
              </a:rPr>
              <a:t>👁</a:t>
            </a:r>
            <a:endParaRPr b="0" i="0" sz="3200" u="none" cap="none" strike="noStrike">
              <a:solidFill>
                <a:schemeClr val="dk1"/>
              </a:solidFill>
              <a:latin typeface="Calibri"/>
              <a:ea typeface="Calibri"/>
              <a:cs typeface="Calibri"/>
              <a:sym typeface="Calibri"/>
            </a:endParaRPr>
          </a:p>
        </p:txBody>
      </p:sp>
      <p:sp>
        <p:nvSpPr>
          <p:cNvPr id="396" name="Google Shape;396;p19"/>
          <p:cNvSpPr/>
          <p:nvPr/>
        </p:nvSpPr>
        <p:spPr>
          <a:xfrm>
            <a:off x="594360" y="252374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300"/>
              <a:buFont typeface="Open Sans"/>
              <a:buNone/>
            </a:pPr>
            <a:r>
              <a:rPr b="1" i="0" lang="en-US" sz="1300" u="none" cap="none" strike="noStrike">
                <a:solidFill>
                  <a:srgbClr val="007B8A"/>
                </a:solidFill>
                <a:latin typeface="Open Sans"/>
                <a:ea typeface="Open Sans"/>
                <a:cs typeface="Open Sans"/>
                <a:sym typeface="Open Sans"/>
              </a:rPr>
              <a:t>Transparency over Secrecy</a:t>
            </a:r>
            <a:endParaRPr b="0" i="0" sz="1300" u="none" cap="none" strike="noStrike">
              <a:solidFill>
                <a:schemeClr val="dk1"/>
              </a:solidFill>
              <a:latin typeface="Calibri"/>
              <a:ea typeface="Calibri"/>
              <a:cs typeface="Calibri"/>
              <a:sym typeface="Calibri"/>
            </a:endParaRPr>
          </a:p>
        </p:txBody>
      </p:sp>
      <p:cxnSp>
        <p:nvCxnSpPr>
          <p:cNvPr id="397" name="Google Shape;397;p19"/>
          <p:cNvCxnSpPr/>
          <p:nvPr/>
        </p:nvCxnSpPr>
        <p:spPr>
          <a:xfrm>
            <a:off x="685800" y="3017520"/>
            <a:ext cx="2194560" cy="0"/>
          </a:xfrm>
          <a:prstGeom prst="straightConnector1">
            <a:avLst/>
          </a:prstGeom>
          <a:noFill/>
          <a:ln cap="flat" cmpd="sng" w="9525">
            <a:solidFill>
              <a:srgbClr val="DEE6EC"/>
            </a:solidFill>
            <a:prstDash val="solid"/>
            <a:round/>
            <a:headEnd len="sm" w="sm" type="none"/>
            <a:tailEnd len="sm" w="sm" type="none"/>
          </a:ln>
        </p:spPr>
      </p:cxnSp>
      <p:sp>
        <p:nvSpPr>
          <p:cNvPr id="398" name="Google Shape;398;p19"/>
          <p:cNvSpPr/>
          <p:nvPr/>
        </p:nvSpPr>
        <p:spPr>
          <a:xfrm>
            <a:off x="612648" y="3090672"/>
            <a:ext cx="2340864" cy="1389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Disclose when AI assisted your work. Students model what lecturers normalise. If you use it and hide it, so will they.</a:t>
            </a:r>
            <a:endParaRPr b="0" i="0" sz="1150" u="none" cap="none" strike="noStrike">
              <a:solidFill>
                <a:schemeClr val="dk1"/>
              </a:solidFill>
              <a:latin typeface="Calibri"/>
              <a:ea typeface="Calibri"/>
              <a:cs typeface="Calibri"/>
              <a:sym typeface="Calibri"/>
            </a:endParaRPr>
          </a:p>
        </p:txBody>
      </p:sp>
      <p:sp>
        <p:nvSpPr>
          <p:cNvPr id="399" name="Google Shape;399;p19"/>
          <p:cNvSpPr/>
          <p:nvPr/>
        </p:nvSpPr>
        <p:spPr>
          <a:xfrm>
            <a:off x="3291840" y="1261872"/>
            <a:ext cx="2560320" cy="333756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4069080" y="1426464"/>
            <a:ext cx="1005840" cy="1005840"/>
          </a:xfrm>
          <a:prstGeom prst="ellipse">
            <a:avLst/>
          </a:prstGeom>
          <a:solidFill>
            <a:srgbClr val="E0F4F6"/>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4069080" y="1426464"/>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200"/>
              <a:buFont typeface="Quattrocento Sans"/>
              <a:buNone/>
            </a:pPr>
            <a:r>
              <a:rPr b="0" i="0" lang="en-US" sz="3200" u="none" cap="none" strike="noStrike">
                <a:solidFill>
                  <a:srgbClr val="000000"/>
                </a:solidFill>
                <a:latin typeface="Quattrocento Sans"/>
                <a:ea typeface="Quattrocento Sans"/>
                <a:cs typeface="Quattrocento Sans"/>
                <a:sym typeface="Quattrocento Sans"/>
              </a:rPr>
              <a:t>🎯</a:t>
            </a:r>
            <a:endParaRPr b="0" i="0" sz="3200" u="none" cap="none" strike="noStrike">
              <a:solidFill>
                <a:schemeClr val="dk1"/>
              </a:solidFill>
              <a:latin typeface="Calibri"/>
              <a:ea typeface="Calibri"/>
              <a:cs typeface="Calibri"/>
              <a:sym typeface="Calibri"/>
            </a:endParaRPr>
          </a:p>
        </p:txBody>
      </p:sp>
      <p:sp>
        <p:nvSpPr>
          <p:cNvPr id="402" name="Google Shape;402;p19"/>
          <p:cNvSpPr/>
          <p:nvPr/>
        </p:nvSpPr>
        <p:spPr>
          <a:xfrm>
            <a:off x="3383280" y="252374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300"/>
              <a:buFont typeface="Open Sans"/>
              <a:buNone/>
            </a:pPr>
            <a:r>
              <a:rPr b="1" i="0" lang="en-US" sz="1300" u="none" cap="none" strike="noStrike">
                <a:solidFill>
                  <a:srgbClr val="007B8A"/>
                </a:solidFill>
                <a:latin typeface="Open Sans"/>
                <a:ea typeface="Open Sans"/>
                <a:cs typeface="Open Sans"/>
                <a:sym typeface="Open Sans"/>
              </a:rPr>
              <a:t>Accountability with Acknowledgement</a:t>
            </a:r>
            <a:endParaRPr b="0" i="0" sz="1300" u="none" cap="none" strike="noStrike">
              <a:solidFill>
                <a:schemeClr val="dk1"/>
              </a:solidFill>
              <a:latin typeface="Calibri"/>
              <a:ea typeface="Calibri"/>
              <a:cs typeface="Calibri"/>
              <a:sym typeface="Calibri"/>
            </a:endParaRPr>
          </a:p>
        </p:txBody>
      </p:sp>
      <p:cxnSp>
        <p:nvCxnSpPr>
          <p:cNvPr id="403" name="Google Shape;403;p19"/>
          <p:cNvCxnSpPr/>
          <p:nvPr/>
        </p:nvCxnSpPr>
        <p:spPr>
          <a:xfrm>
            <a:off x="3474720" y="3017520"/>
            <a:ext cx="2194560" cy="0"/>
          </a:xfrm>
          <a:prstGeom prst="straightConnector1">
            <a:avLst/>
          </a:prstGeom>
          <a:noFill/>
          <a:ln cap="flat" cmpd="sng" w="9525">
            <a:solidFill>
              <a:srgbClr val="DEE6EC"/>
            </a:solidFill>
            <a:prstDash val="solid"/>
            <a:round/>
            <a:headEnd len="sm" w="sm" type="none"/>
            <a:tailEnd len="sm" w="sm" type="none"/>
          </a:ln>
        </p:spPr>
      </p:cxnSp>
      <p:sp>
        <p:nvSpPr>
          <p:cNvPr id="404" name="Google Shape;404;p19"/>
          <p:cNvSpPr/>
          <p:nvPr/>
        </p:nvSpPr>
        <p:spPr>
          <a:xfrm>
            <a:off x="3401568" y="3090672"/>
            <a:ext cx="2340864" cy="1389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AI-assisted work is still your work. Errors and tone are your responsibility. Acknowledge the tool; own the output.</a:t>
            </a:r>
            <a:endParaRPr b="0" i="0" sz="1150" u="none" cap="none" strike="noStrike">
              <a:solidFill>
                <a:schemeClr val="dk1"/>
              </a:solidFill>
              <a:latin typeface="Calibri"/>
              <a:ea typeface="Calibri"/>
              <a:cs typeface="Calibri"/>
              <a:sym typeface="Calibri"/>
            </a:endParaRPr>
          </a:p>
        </p:txBody>
      </p:sp>
      <p:sp>
        <p:nvSpPr>
          <p:cNvPr id="405" name="Google Shape;405;p19"/>
          <p:cNvSpPr/>
          <p:nvPr/>
        </p:nvSpPr>
        <p:spPr>
          <a:xfrm>
            <a:off x="6080760" y="1261872"/>
            <a:ext cx="2560320" cy="333756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a:off x="6858000" y="1426464"/>
            <a:ext cx="1005840" cy="1005840"/>
          </a:xfrm>
          <a:prstGeom prst="ellipse">
            <a:avLst/>
          </a:prstGeom>
          <a:solidFill>
            <a:srgbClr val="E0F4F6"/>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
          <p:cNvSpPr/>
          <p:nvPr/>
        </p:nvSpPr>
        <p:spPr>
          <a:xfrm>
            <a:off x="6858000" y="1426464"/>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200"/>
              <a:buFont typeface="Quattrocento Sans"/>
              <a:buNone/>
            </a:pPr>
            <a:r>
              <a:rPr b="0" i="0" lang="en-US" sz="3200" u="none" cap="none" strike="noStrike">
                <a:solidFill>
                  <a:srgbClr val="000000"/>
                </a:solidFill>
                <a:latin typeface="Quattrocento Sans"/>
                <a:ea typeface="Quattrocento Sans"/>
                <a:cs typeface="Quattrocento Sans"/>
                <a:sym typeface="Quattrocento Sans"/>
              </a:rPr>
              <a:t>🧭</a:t>
            </a:r>
            <a:endParaRPr b="0" i="0" sz="3200" u="none" cap="none" strike="noStrike">
              <a:solidFill>
                <a:schemeClr val="dk1"/>
              </a:solidFill>
              <a:latin typeface="Calibri"/>
              <a:ea typeface="Calibri"/>
              <a:cs typeface="Calibri"/>
              <a:sym typeface="Calibri"/>
            </a:endParaRPr>
          </a:p>
        </p:txBody>
      </p:sp>
      <p:sp>
        <p:nvSpPr>
          <p:cNvPr id="408" name="Google Shape;408;p19"/>
          <p:cNvSpPr/>
          <p:nvPr/>
        </p:nvSpPr>
        <p:spPr>
          <a:xfrm>
            <a:off x="6172200" y="252374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300"/>
              <a:buFont typeface="Open Sans"/>
              <a:buNone/>
            </a:pPr>
            <a:r>
              <a:rPr b="1" i="0" lang="en-US" sz="1300" u="none" cap="none" strike="noStrike">
                <a:solidFill>
                  <a:srgbClr val="007B8A"/>
                </a:solidFill>
                <a:latin typeface="Open Sans"/>
                <a:ea typeface="Open Sans"/>
                <a:cs typeface="Open Sans"/>
                <a:sym typeface="Open Sans"/>
              </a:rPr>
              <a:t>Guidance over Prohibition</a:t>
            </a:r>
            <a:endParaRPr b="0" i="0" sz="1300" u="none" cap="none" strike="noStrike">
              <a:solidFill>
                <a:schemeClr val="dk1"/>
              </a:solidFill>
              <a:latin typeface="Calibri"/>
              <a:ea typeface="Calibri"/>
              <a:cs typeface="Calibri"/>
              <a:sym typeface="Calibri"/>
            </a:endParaRPr>
          </a:p>
        </p:txBody>
      </p:sp>
      <p:cxnSp>
        <p:nvCxnSpPr>
          <p:cNvPr id="409" name="Google Shape;409;p19"/>
          <p:cNvCxnSpPr/>
          <p:nvPr/>
        </p:nvCxnSpPr>
        <p:spPr>
          <a:xfrm>
            <a:off x="6263640" y="3017520"/>
            <a:ext cx="2194560" cy="0"/>
          </a:xfrm>
          <a:prstGeom prst="straightConnector1">
            <a:avLst/>
          </a:prstGeom>
          <a:noFill/>
          <a:ln cap="flat" cmpd="sng" w="9525">
            <a:solidFill>
              <a:srgbClr val="DEE6EC"/>
            </a:solidFill>
            <a:prstDash val="solid"/>
            <a:round/>
            <a:headEnd len="sm" w="sm" type="none"/>
            <a:tailEnd len="sm" w="sm" type="none"/>
          </a:ln>
        </p:spPr>
      </p:cxnSp>
      <p:sp>
        <p:nvSpPr>
          <p:cNvPr id="410" name="Google Shape;410;p19"/>
          <p:cNvSpPr/>
          <p:nvPr/>
        </p:nvSpPr>
        <p:spPr>
          <a:xfrm>
            <a:off x="6190488" y="3090672"/>
            <a:ext cx="2340864" cy="1389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Blanket bans create adversarial relationships. Clear guidance on what is permitted and why creates professional culture.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3C"/>
        </a:solidFill>
      </p:bgPr>
    </p:bg>
    <p:spTree>
      <p:nvGrpSpPr>
        <p:cNvPr id="415" name="Shape 415"/>
        <p:cNvGrpSpPr/>
        <p:nvPr/>
      </p:nvGrpSpPr>
      <p:grpSpPr>
        <a:xfrm>
          <a:off x="0" y="0"/>
          <a:ext cx="0" cy="0"/>
          <a:chOff x="0" y="0"/>
          <a:chExt cx="0" cy="0"/>
        </a:xfrm>
      </p:grpSpPr>
      <p:sp>
        <p:nvSpPr>
          <p:cNvPr id="416" name="Google Shape;416;p20"/>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6070"/>
              </a:buClr>
              <a:buSzPts val="800"/>
              <a:buFont typeface="Open Sans"/>
              <a:buNone/>
            </a:pPr>
            <a:r>
              <a:rPr b="0" i="0" lang="en-US" sz="800" u="none" cap="none" strike="noStrike">
                <a:solidFill>
                  <a:srgbClr val="456070"/>
                </a:solidFill>
                <a:latin typeface="Open Sans"/>
                <a:ea typeface="Open Sans"/>
                <a:cs typeface="Open Sans"/>
                <a:sym typeface="Open Sans"/>
              </a:rPr>
              <a:t>18</a:t>
            </a:r>
            <a:endParaRPr b="0" i="0" sz="800" u="none" cap="none" strike="noStrike">
              <a:solidFill>
                <a:schemeClr val="dk1"/>
              </a:solidFill>
              <a:latin typeface="Calibri"/>
              <a:ea typeface="Calibri"/>
              <a:cs typeface="Calibri"/>
              <a:sym typeface="Calibri"/>
            </a:endParaRPr>
          </a:p>
        </p:txBody>
      </p:sp>
      <p:sp>
        <p:nvSpPr>
          <p:cNvPr id="417" name="Google Shape;417;p20"/>
          <p:cNvSpPr/>
          <p:nvPr/>
        </p:nvSpPr>
        <p:spPr>
          <a:xfrm>
            <a:off x="0" y="347472"/>
            <a:ext cx="9144000" cy="11155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5800"/>
              <a:buFont typeface="Quattrocento Sans"/>
              <a:buNone/>
            </a:pPr>
            <a:r>
              <a:rPr b="0" i="0" lang="en-US" sz="5800" u="none" cap="none" strike="noStrike">
                <a:solidFill>
                  <a:srgbClr val="000000"/>
                </a:solidFill>
                <a:latin typeface="Quattrocento Sans"/>
                <a:ea typeface="Quattrocento Sans"/>
                <a:cs typeface="Quattrocento Sans"/>
                <a:sym typeface="Quattrocento Sans"/>
              </a:rPr>
              <a:t>🦋</a:t>
            </a:r>
            <a:endParaRPr b="0" i="0" sz="5800" u="none" cap="none" strike="noStrike">
              <a:solidFill>
                <a:schemeClr val="dk1"/>
              </a:solidFill>
              <a:latin typeface="Calibri"/>
              <a:ea typeface="Calibri"/>
              <a:cs typeface="Calibri"/>
              <a:sym typeface="Calibri"/>
            </a:endParaRPr>
          </a:p>
        </p:txBody>
      </p:sp>
      <p:sp>
        <p:nvSpPr>
          <p:cNvPr id="418" name="Google Shape;418;p20"/>
          <p:cNvSpPr/>
          <p:nvPr/>
        </p:nvSpPr>
        <p:spPr>
          <a:xfrm>
            <a:off x="457200" y="1536192"/>
            <a:ext cx="8229600"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Open Sans"/>
              <a:buNone/>
            </a:pPr>
            <a:r>
              <a:rPr b="1" i="0" lang="en-US" sz="3200" u="none" cap="none" strike="noStrike">
                <a:solidFill>
                  <a:srgbClr val="FFFFFF"/>
                </a:solidFill>
                <a:latin typeface="Open Sans"/>
                <a:ea typeface="Open Sans"/>
                <a:cs typeface="Open Sans"/>
                <a:sym typeface="Open Sans"/>
              </a:rPr>
              <a:t>The Wing Has Not Flapped Yet</a:t>
            </a:r>
            <a:endParaRPr b="0" i="0" sz="3200" u="none" cap="none" strike="noStrike">
              <a:solidFill>
                <a:schemeClr val="dk1"/>
              </a:solidFill>
              <a:latin typeface="Calibri"/>
              <a:ea typeface="Calibri"/>
              <a:cs typeface="Calibri"/>
              <a:sym typeface="Calibri"/>
            </a:endParaRPr>
          </a:p>
        </p:txBody>
      </p:sp>
      <p:sp>
        <p:nvSpPr>
          <p:cNvPr id="419" name="Google Shape;419;p20"/>
          <p:cNvSpPr/>
          <p:nvPr/>
        </p:nvSpPr>
        <p:spPr>
          <a:xfrm>
            <a:off x="3017520" y="2176272"/>
            <a:ext cx="1927555"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4945075" y="2176272"/>
            <a:ext cx="1181405"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457200" y="2304288"/>
            <a:ext cx="8229600"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CED8"/>
              </a:buClr>
              <a:buSzPts val="1800"/>
              <a:buFont typeface="Open Sans"/>
              <a:buNone/>
            </a:pPr>
            <a:r>
              <a:rPr b="0" i="0" lang="en-US" sz="1800" u="none" cap="none" strike="noStrike">
                <a:solidFill>
                  <a:srgbClr val="AACED8"/>
                </a:solidFill>
                <a:latin typeface="Open Sans"/>
                <a:ea typeface="Open Sans"/>
                <a:cs typeface="Open Sans"/>
                <a:sym typeface="Open Sans"/>
              </a:rPr>
              <a:t>Small decisions made in faculty meetings this year</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ACED8"/>
              </a:buClr>
              <a:buSzPts val="1800"/>
              <a:buFont typeface="Open Sans"/>
              <a:buNone/>
            </a:pPr>
            <a:r>
              <a:rPr b="0" i="0" lang="en-US" sz="1800" u="none" cap="none" strike="noStrike">
                <a:solidFill>
                  <a:srgbClr val="AACED8"/>
                </a:solidFill>
                <a:latin typeface="Open Sans"/>
                <a:ea typeface="Open Sans"/>
                <a:cs typeface="Open Sans"/>
                <a:sym typeface="Open Sans"/>
              </a:rPr>
              <a:t>will cascade into institutional culture in three years.</a:t>
            </a:r>
            <a:endParaRPr b="0" i="0" sz="1800" u="none" cap="none" strike="noStrike">
              <a:solidFill>
                <a:schemeClr val="dk1"/>
              </a:solidFill>
              <a:latin typeface="Calibri"/>
              <a:ea typeface="Calibri"/>
              <a:cs typeface="Calibri"/>
              <a:sym typeface="Calibri"/>
            </a:endParaRPr>
          </a:p>
        </p:txBody>
      </p:sp>
      <p:sp>
        <p:nvSpPr>
          <p:cNvPr id="422" name="Google Shape;422;p20"/>
          <p:cNvSpPr/>
          <p:nvPr/>
        </p:nvSpPr>
        <p:spPr>
          <a:xfrm>
            <a:off x="457200" y="3154680"/>
            <a:ext cx="8229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BFCC"/>
              </a:buClr>
              <a:buSzPts val="1500"/>
              <a:buFont typeface="Open Sans"/>
              <a:buNone/>
            </a:pPr>
            <a:r>
              <a:rPr b="0" i="1" lang="en-US" sz="1500" u="none" cap="none" strike="noStrike">
                <a:solidFill>
                  <a:srgbClr val="7ABFCC"/>
                </a:solidFill>
                <a:latin typeface="Open Sans"/>
                <a:ea typeface="Open Sans"/>
                <a:cs typeface="Open Sans"/>
                <a:sym typeface="Open Sans"/>
              </a:rPr>
              <a:t>Most Sri Lankan HEIs have not yet drawn this line.</a:t>
            </a:r>
            <a:endParaRPr b="0" i="0" sz="1500" u="none" cap="none" strike="noStrike">
              <a:solidFill>
                <a:schemeClr val="dk1"/>
              </a:solidFill>
              <a:latin typeface="Calibri"/>
              <a:ea typeface="Calibri"/>
              <a:cs typeface="Calibri"/>
              <a:sym typeface="Calibri"/>
            </a:endParaRPr>
          </a:p>
        </p:txBody>
      </p:sp>
      <p:sp>
        <p:nvSpPr>
          <p:cNvPr id="423" name="Google Shape;423;p20"/>
          <p:cNvSpPr/>
          <p:nvPr/>
        </p:nvSpPr>
        <p:spPr>
          <a:xfrm>
            <a:off x="2514600" y="3730752"/>
            <a:ext cx="4114800" cy="658368"/>
          </a:xfrm>
          <a:prstGeom prst="rect">
            <a:avLst/>
          </a:prstGeom>
          <a:solidFill>
            <a:srgbClr val="1E3040"/>
          </a:solidFill>
          <a:ln cap="flat" cmpd="sng" w="12700">
            <a:solidFill>
              <a:srgbClr val="2A3F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2514600" y="3730752"/>
            <a:ext cx="4114800" cy="64008"/>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a:off x="2514600" y="3794760"/>
            <a:ext cx="4114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500"/>
              <a:buFont typeface="Open Sans"/>
              <a:buNone/>
            </a:pPr>
            <a:r>
              <a:rPr b="1" i="0" lang="en-US" sz="1500" u="none" cap="none" strike="noStrike">
                <a:solidFill>
                  <a:srgbClr val="E8831A"/>
                </a:solidFill>
                <a:latin typeface="Open Sans"/>
                <a:ea typeface="Open Sans"/>
                <a:cs typeface="Open Sans"/>
                <a:sym typeface="Open Sans"/>
              </a:rPr>
              <a:t>This room can be the butterfly.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502920" y="4828032"/>
            <a:ext cx="32004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6070"/>
              </a:buClr>
              <a:buSzPts val="700"/>
              <a:buFont typeface="Open Sans"/>
              <a:buNone/>
            </a:pPr>
            <a:r>
              <a:rPr b="1" i="0" lang="en-US" sz="700" u="none" cap="none" strike="noStrike">
                <a:solidFill>
                  <a:srgbClr val="456070"/>
                </a:solidFill>
                <a:latin typeface="Open Sans"/>
                <a:ea typeface="Open Sans"/>
                <a:cs typeface="Open Sans"/>
                <a:sym typeface="Open Sans"/>
              </a:rPr>
              <a:t>SECTION 5  --  STRANGE ATTRACTORS</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21"/>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Your Initial Condition</a:t>
            </a:r>
            <a:endParaRPr b="0" i="0" sz="2500" u="none" cap="none" strike="noStrike">
              <a:solidFill>
                <a:schemeClr val="dk1"/>
              </a:solidFill>
              <a:latin typeface="Calibri"/>
              <a:ea typeface="Calibri"/>
              <a:cs typeface="Calibri"/>
              <a:sym typeface="Calibri"/>
            </a:endParaRPr>
          </a:p>
        </p:txBody>
      </p:sp>
      <p:sp>
        <p:nvSpPr>
          <p:cNvPr id="433" name="Google Shape;433;p21"/>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1"/>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NEW EQUILIBRIUM</a:t>
            </a:r>
            <a:endParaRPr b="0" i="0" sz="700" u="none" cap="none" strike="noStrike">
              <a:solidFill>
                <a:schemeClr val="dk1"/>
              </a:solidFill>
              <a:latin typeface="Calibri"/>
              <a:ea typeface="Calibri"/>
              <a:cs typeface="Calibri"/>
              <a:sym typeface="Calibri"/>
            </a:endParaRPr>
          </a:p>
        </p:txBody>
      </p:sp>
      <p:sp>
        <p:nvSpPr>
          <p:cNvPr id="437" name="Google Shape;437;p21"/>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19</a:t>
            </a:r>
            <a:endParaRPr b="0" i="0" sz="800" u="none" cap="none" strike="noStrike">
              <a:solidFill>
                <a:schemeClr val="dk1"/>
              </a:solidFill>
              <a:latin typeface="Calibri"/>
              <a:ea typeface="Calibri"/>
              <a:cs typeface="Calibri"/>
              <a:sym typeface="Calibri"/>
            </a:endParaRPr>
          </a:p>
        </p:txBody>
      </p:sp>
      <p:sp>
        <p:nvSpPr>
          <p:cNvPr id="438" name="Google Shape;438;p21"/>
          <p:cNvSpPr/>
          <p:nvPr/>
        </p:nvSpPr>
        <p:spPr>
          <a:xfrm>
            <a:off x="502920" y="841248"/>
            <a:ext cx="8138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E70"/>
              </a:buClr>
              <a:buSzPts val="1300"/>
              <a:buFont typeface="Open Sans"/>
              <a:buNone/>
            </a:pPr>
            <a:r>
              <a:rPr b="0" i="1" lang="en-US" sz="1300" u="none" cap="none" strike="noStrike">
                <a:solidFill>
                  <a:srgbClr val="4A5E70"/>
                </a:solidFill>
                <a:latin typeface="Open Sans"/>
                <a:ea typeface="Open Sans"/>
                <a:cs typeface="Open Sans"/>
                <a:sym typeface="Open Sans"/>
              </a:rPr>
              <a:t>Write it. Say it out loud. It matters more than any summary.</a:t>
            </a:r>
            <a:endParaRPr b="0" i="0" sz="1300" u="none" cap="none" strike="noStrike">
              <a:solidFill>
                <a:schemeClr val="dk1"/>
              </a:solidFill>
              <a:latin typeface="Calibri"/>
              <a:ea typeface="Calibri"/>
              <a:cs typeface="Calibri"/>
              <a:sym typeface="Calibri"/>
            </a:endParaRPr>
          </a:p>
        </p:txBody>
      </p:sp>
      <p:sp>
        <p:nvSpPr>
          <p:cNvPr id="439" name="Google Shape;439;p21"/>
          <p:cNvSpPr/>
          <p:nvPr/>
        </p:nvSpPr>
        <p:spPr>
          <a:xfrm>
            <a:off x="502920" y="1261872"/>
            <a:ext cx="3931920" cy="320040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502920" y="1261872"/>
            <a:ext cx="3931920" cy="64008"/>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1"/>
          <p:cNvSpPr/>
          <p:nvPr/>
        </p:nvSpPr>
        <p:spPr>
          <a:xfrm>
            <a:off x="685800" y="1389888"/>
            <a:ext cx="3566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B8A"/>
              </a:buClr>
              <a:buSzPts val="1400"/>
              <a:buFont typeface="Open Sans"/>
              <a:buNone/>
            </a:pPr>
            <a:r>
              <a:rPr b="1" i="0" lang="en-US" sz="1400" u="none" cap="none" strike="noStrike">
                <a:solidFill>
                  <a:srgbClr val="007B8A"/>
                </a:solidFill>
                <a:latin typeface="Open Sans"/>
                <a:ea typeface="Open Sans"/>
                <a:cs typeface="Open Sans"/>
                <a:sym typeface="Open Sans"/>
              </a:rPr>
              <a:t>One thing I will try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7B8A"/>
              </a:buClr>
              <a:buSzPts val="1400"/>
              <a:buFont typeface="Open Sans"/>
              <a:buNone/>
            </a:pPr>
            <a:r>
              <a:rPr b="1" i="0" lang="en-US" sz="1400" u="none" cap="none" strike="noStrike">
                <a:solidFill>
                  <a:srgbClr val="007B8A"/>
                </a:solidFill>
                <a:latin typeface="Open Sans"/>
                <a:ea typeface="Open Sans"/>
                <a:cs typeface="Open Sans"/>
                <a:sym typeface="Open Sans"/>
              </a:rPr>
              <a:t>before next month...</a:t>
            </a:r>
            <a:endParaRPr b="0" i="0" sz="1400" u="none" cap="none" strike="noStrike">
              <a:solidFill>
                <a:schemeClr val="dk1"/>
              </a:solidFill>
              <a:latin typeface="Calibri"/>
              <a:ea typeface="Calibri"/>
              <a:cs typeface="Calibri"/>
              <a:sym typeface="Calibri"/>
            </a:endParaRPr>
          </a:p>
        </p:txBody>
      </p:sp>
      <p:cxnSp>
        <p:nvCxnSpPr>
          <p:cNvPr id="442" name="Google Shape;442;p21"/>
          <p:cNvCxnSpPr/>
          <p:nvPr/>
        </p:nvCxnSpPr>
        <p:spPr>
          <a:xfrm>
            <a:off x="685800" y="2212848"/>
            <a:ext cx="3566160" cy="0"/>
          </a:xfrm>
          <a:prstGeom prst="straightConnector1">
            <a:avLst/>
          </a:prstGeom>
          <a:noFill/>
          <a:ln cap="flat" cmpd="sng" w="9525">
            <a:solidFill>
              <a:srgbClr val="DEE6EC"/>
            </a:solidFill>
            <a:prstDash val="solid"/>
            <a:round/>
            <a:headEnd len="sm" w="sm" type="none"/>
            <a:tailEnd len="sm" w="sm" type="none"/>
          </a:ln>
        </p:spPr>
      </p:cxnSp>
      <p:cxnSp>
        <p:nvCxnSpPr>
          <p:cNvPr id="443" name="Google Shape;443;p21"/>
          <p:cNvCxnSpPr/>
          <p:nvPr/>
        </p:nvCxnSpPr>
        <p:spPr>
          <a:xfrm>
            <a:off x="685800" y="2615184"/>
            <a:ext cx="3566160" cy="0"/>
          </a:xfrm>
          <a:prstGeom prst="straightConnector1">
            <a:avLst/>
          </a:prstGeom>
          <a:noFill/>
          <a:ln cap="flat" cmpd="sng" w="9525">
            <a:solidFill>
              <a:srgbClr val="DEE6EC"/>
            </a:solidFill>
            <a:prstDash val="solid"/>
            <a:round/>
            <a:headEnd len="sm" w="sm" type="none"/>
            <a:tailEnd len="sm" w="sm" type="none"/>
          </a:ln>
        </p:spPr>
      </p:cxnSp>
      <p:cxnSp>
        <p:nvCxnSpPr>
          <p:cNvPr id="444" name="Google Shape;444;p21"/>
          <p:cNvCxnSpPr/>
          <p:nvPr/>
        </p:nvCxnSpPr>
        <p:spPr>
          <a:xfrm>
            <a:off x="685800" y="3017520"/>
            <a:ext cx="3566160" cy="0"/>
          </a:xfrm>
          <a:prstGeom prst="straightConnector1">
            <a:avLst/>
          </a:prstGeom>
          <a:noFill/>
          <a:ln cap="flat" cmpd="sng" w="9525">
            <a:solidFill>
              <a:srgbClr val="DEE6EC"/>
            </a:solidFill>
            <a:prstDash val="solid"/>
            <a:round/>
            <a:headEnd len="sm" w="sm" type="none"/>
            <a:tailEnd len="sm" w="sm" type="none"/>
          </a:ln>
        </p:spPr>
      </p:cxnSp>
      <p:cxnSp>
        <p:nvCxnSpPr>
          <p:cNvPr id="445" name="Google Shape;445;p21"/>
          <p:cNvCxnSpPr/>
          <p:nvPr/>
        </p:nvCxnSpPr>
        <p:spPr>
          <a:xfrm>
            <a:off x="685800" y="3419856"/>
            <a:ext cx="3566160" cy="0"/>
          </a:xfrm>
          <a:prstGeom prst="straightConnector1">
            <a:avLst/>
          </a:prstGeom>
          <a:noFill/>
          <a:ln cap="flat" cmpd="sng" w="9525">
            <a:solidFill>
              <a:srgbClr val="DEE6EC"/>
            </a:solidFill>
            <a:prstDash val="solid"/>
            <a:round/>
            <a:headEnd len="sm" w="sm" type="none"/>
            <a:tailEnd len="sm" w="sm" type="none"/>
          </a:ln>
        </p:spPr>
      </p:cxnSp>
      <p:cxnSp>
        <p:nvCxnSpPr>
          <p:cNvPr id="446" name="Google Shape;446;p21"/>
          <p:cNvCxnSpPr/>
          <p:nvPr/>
        </p:nvCxnSpPr>
        <p:spPr>
          <a:xfrm>
            <a:off x="685800" y="3822192"/>
            <a:ext cx="3566160" cy="0"/>
          </a:xfrm>
          <a:prstGeom prst="straightConnector1">
            <a:avLst/>
          </a:prstGeom>
          <a:noFill/>
          <a:ln cap="flat" cmpd="sng" w="9525">
            <a:solidFill>
              <a:srgbClr val="DEE6EC"/>
            </a:solidFill>
            <a:prstDash val="solid"/>
            <a:round/>
            <a:headEnd len="sm" w="sm" type="none"/>
            <a:tailEnd len="sm" w="sm" type="none"/>
          </a:ln>
        </p:spPr>
      </p:cxnSp>
      <p:sp>
        <p:nvSpPr>
          <p:cNvPr id="447" name="Google Shape;447;p21"/>
          <p:cNvSpPr/>
          <p:nvPr/>
        </p:nvSpPr>
        <p:spPr>
          <a:xfrm>
            <a:off x="4709160" y="1261872"/>
            <a:ext cx="3931920" cy="3200400"/>
          </a:xfrm>
          <a:prstGeom prst="rect">
            <a:avLst/>
          </a:prstGeom>
          <a:solidFill>
            <a:srgbClr val="FFFFFF"/>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4709160" y="1261872"/>
            <a:ext cx="3931920" cy="64008"/>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4892040" y="1389888"/>
            <a:ext cx="3566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1A"/>
              </a:buClr>
              <a:buSzPts val="1400"/>
              <a:buFont typeface="Open Sans"/>
              <a:buNone/>
            </a:pPr>
            <a:r>
              <a:rPr b="1" i="0" lang="en-US" sz="1400" u="none" cap="none" strike="noStrike">
                <a:solidFill>
                  <a:srgbClr val="E8831A"/>
                </a:solidFill>
                <a:latin typeface="Open Sans"/>
                <a:ea typeface="Open Sans"/>
                <a:cs typeface="Open Sans"/>
                <a:sym typeface="Open Sans"/>
              </a:rPr>
              <a:t>One concern I</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831A"/>
              </a:buClr>
              <a:buSzPts val="1400"/>
              <a:buFont typeface="Open Sans"/>
              <a:buNone/>
            </a:pPr>
            <a:r>
              <a:rPr b="1" i="0" lang="en-US" sz="1400" u="none" cap="none" strike="noStrike">
                <a:solidFill>
                  <a:srgbClr val="E8831A"/>
                </a:solidFill>
                <a:latin typeface="Open Sans"/>
                <a:ea typeface="Open Sans"/>
                <a:cs typeface="Open Sans"/>
                <a:sym typeface="Open Sans"/>
              </a:rPr>
              <a:t>still carry...</a:t>
            </a:r>
            <a:endParaRPr b="0" i="0" sz="1400" u="none" cap="none" strike="noStrike">
              <a:solidFill>
                <a:schemeClr val="dk1"/>
              </a:solidFill>
              <a:latin typeface="Calibri"/>
              <a:ea typeface="Calibri"/>
              <a:cs typeface="Calibri"/>
              <a:sym typeface="Calibri"/>
            </a:endParaRPr>
          </a:p>
        </p:txBody>
      </p:sp>
      <p:cxnSp>
        <p:nvCxnSpPr>
          <p:cNvPr id="450" name="Google Shape;450;p21"/>
          <p:cNvCxnSpPr/>
          <p:nvPr/>
        </p:nvCxnSpPr>
        <p:spPr>
          <a:xfrm>
            <a:off x="4892040" y="2212848"/>
            <a:ext cx="3566160" cy="0"/>
          </a:xfrm>
          <a:prstGeom prst="straightConnector1">
            <a:avLst/>
          </a:prstGeom>
          <a:noFill/>
          <a:ln cap="flat" cmpd="sng" w="9525">
            <a:solidFill>
              <a:srgbClr val="DEE6EC"/>
            </a:solidFill>
            <a:prstDash val="solid"/>
            <a:round/>
            <a:headEnd len="sm" w="sm" type="none"/>
            <a:tailEnd len="sm" w="sm" type="none"/>
          </a:ln>
        </p:spPr>
      </p:cxnSp>
      <p:cxnSp>
        <p:nvCxnSpPr>
          <p:cNvPr id="451" name="Google Shape;451;p21"/>
          <p:cNvCxnSpPr/>
          <p:nvPr/>
        </p:nvCxnSpPr>
        <p:spPr>
          <a:xfrm>
            <a:off x="4892040" y="2615184"/>
            <a:ext cx="3566160" cy="0"/>
          </a:xfrm>
          <a:prstGeom prst="straightConnector1">
            <a:avLst/>
          </a:prstGeom>
          <a:noFill/>
          <a:ln cap="flat" cmpd="sng" w="9525">
            <a:solidFill>
              <a:srgbClr val="DEE6EC"/>
            </a:solidFill>
            <a:prstDash val="solid"/>
            <a:round/>
            <a:headEnd len="sm" w="sm" type="none"/>
            <a:tailEnd len="sm" w="sm" type="none"/>
          </a:ln>
        </p:spPr>
      </p:cxnSp>
      <p:cxnSp>
        <p:nvCxnSpPr>
          <p:cNvPr id="452" name="Google Shape;452;p21"/>
          <p:cNvCxnSpPr/>
          <p:nvPr/>
        </p:nvCxnSpPr>
        <p:spPr>
          <a:xfrm>
            <a:off x="4892040" y="3017520"/>
            <a:ext cx="3566160" cy="0"/>
          </a:xfrm>
          <a:prstGeom prst="straightConnector1">
            <a:avLst/>
          </a:prstGeom>
          <a:noFill/>
          <a:ln cap="flat" cmpd="sng" w="9525">
            <a:solidFill>
              <a:srgbClr val="DEE6EC"/>
            </a:solidFill>
            <a:prstDash val="solid"/>
            <a:round/>
            <a:headEnd len="sm" w="sm" type="none"/>
            <a:tailEnd len="sm" w="sm" type="none"/>
          </a:ln>
        </p:spPr>
      </p:cxnSp>
      <p:cxnSp>
        <p:nvCxnSpPr>
          <p:cNvPr id="453" name="Google Shape;453;p21"/>
          <p:cNvCxnSpPr/>
          <p:nvPr/>
        </p:nvCxnSpPr>
        <p:spPr>
          <a:xfrm>
            <a:off x="4892040" y="3419856"/>
            <a:ext cx="3566160" cy="0"/>
          </a:xfrm>
          <a:prstGeom prst="straightConnector1">
            <a:avLst/>
          </a:prstGeom>
          <a:noFill/>
          <a:ln cap="flat" cmpd="sng" w="9525">
            <a:solidFill>
              <a:srgbClr val="DEE6EC"/>
            </a:solidFill>
            <a:prstDash val="solid"/>
            <a:round/>
            <a:headEnd len="sm" w="sm" type="none"/>
            <a:tailEnd len="sm" w="sm" type="none"/>
          </a:ln>
        </p:spPr>
      </p:cxnSp>
      <p:cxnSp>
        <p:nvCxnSpPr>
          <p:cNvPr id="454" name="Google Shape;454;p21"/>
          <p:cNvCxnSpPr/>
          <p:nvPr/>
        </p:nvCxnSpPr>
        <p:spPr>
          <a:xfrm>
            <a:off x="4892040" y="3822192"/>
            <a:ext cx="3566160" cy="0"/>
          </a:xfrm>
          <a:prstGeom prst="straightConnector1">
            <a:avLst/>
          </a:prstGeom>
          <a:noFill/>
          <a:ln cap="flat" cmpd="sng" w="9525">
            <a:solidFill>
              <a:srgbClr val="DEE6EC"/>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22"/>
          <p:cNvSpPr/>
          <p:nvPr/>
        </p:nvSpPr>
        <p:spPr>
          <a:xfrm>
            <a:off x="502920" y="201168"/>
            <a:ext cx="8138160" cy="47548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2535"/>
              </a:buClr>
              <a:buSzPts val="2500"/>
              <a:buFont typeface="Open Sans"/>
              <a:buNone/>
            </a:pPr>
            <a:r>
              <a:rPr b="1" i="0" lang="en-US" sz="2500" u="none" cap="none" strike="noStrike">
                <a:solidFill>
                  <a:srgbClr val="1A2535"/>
                </a:solidFill>
                <a:latin typeface="Open Sans"/>
                <a:ea typeface="Open Sans"/>
                <a:cs typeface="Open Sans"/>
                <a:sym typeface="Open Sans"/>
              </a:rPr>
              <a:t>Three Starting Points</a:t>
            </a:r>
            <a:endParaRPr b="0" i="0" sz="2500" u="none" cap="none" strike="noStrike">
              <a:solidFill>
                <a:schemeClr val="dk1"/>
              </a:solidFill>
              <a:latin typeface="Calibri"/>
              <a:ea typeface="Calibri"/>
              <a:cs typeface="Calibri"/>
              <a:sym typeface="Calibri"/>
            </a:endParaRPr>
          </a:p>
        </p:txBody>
      </p:sp>
      <p:sp>
        <p:nvSpPr>
          <p:cNvPr id="461" name="Google Shape;461;p22"/>
          <p:cNvSpPr/>
          <p:nvPr/>
        </p:nvSpPr>
        <p:spPr>
          <a:xfrm>
            <a:off x="502920" y="704088"/>
            <a:ext cx="2040941"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2"/>
          <p:cNvSpPr/>
          <p:nvPr/>
        </p:nvSpPr>
        <p:spPr>
          <a:xfrm>
            <a:off x="2543861" y="704088"/>
            <a:ext cx="1250899"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2"/>
          <p:cNvSpPr/>
          <p:nvPr/>
        </p:nvSpPr>
        <p:spPr>
          <a:xfrm>
            <a:off x="502920" y="4828032"/>
            <a:ext cx="2468880" cy="192024"/>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2"/>
          <p:cNvSpPr/>
          <p:nvPr/>
        </p:nvSpPr>
        <p:spPr>
          <a:xfrm>
            <a:off x="502920" y="4828032"/>
            <a:ext cx="246888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Open Sans"/>
              <a:buNone/>
            </a:pPr>
            <a:r>
              <a:rPr b="1" i="0" lang="en-US" sz="700" u="none" cap="none" strike="noStrike">
                <a:solidFill>
                  <a:srgbClr val="FFFFFF"/>
                </a:solidFill>
                <a:latin typeface="Open Sans"/>
                <a:ea typeface="Open Sans"/>
                <a:cs typeface="Open Sans"/>
                <a:sym typeface="Open Sans"/>
              </a:rPr>
              <a:t>NEW EQUILIBRIUM</a:t>
            </a:r>
            <a:endParaRPr b="0" i="0" sz="700" u="none" cap="none" strike="noStrike">
              <a:solidFill>
                <a:schemeClr val="dk1"/>
              </a:solidFill>
              <a:latin typeface="Calibri"/>
              <a:ea typeface="Calibri"/>
              <a:cs typeface="Calibri"/>
              <a:sym typeface="Calibri"/>
            </a:endParaRPr>
          </a:p>
        </p:txBody>
      </p:sp>
      <p:sp>
        <p:nvSpPr>
          <p:cNvPr id="465" name="Google Shape;465;p22"/>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20</a:t>
            </a:r>
            <a:endParaRPr b="0" i="0" sz="800" u="none" cap="none" strike="noStrike">
              <a:solidFill>
                <a:schemeClr val="dk1"/>
              </a:solidFill>
              <a:latin typeface="Calibri"/>
              <a:ea typeface="Calibri"/>
              <a:cs typeface="Calibri"/>
              <a:sym typeface="Calibri"/>
            </a:endParaRPr>
          </a:p>
        </p:txBody>
      </p:sp>
      <p:sp>
        <p:nvSpPr>
          <p:cNvPr id="466" name="Google Shape;466;p22"/>
          <p:cNvSpPr/>
          <p:nvPr/>
        </p:nvSpPr>
        <p:spPr>
          <a:xfrm>
            <a:off x="502920" y="896112"/>
            <a:ext cx="2560320" cy="3840480"/>
          </a:xfrm>
          <a:prstGeom prst="rect">
            <a:avLst/>
          </a:prstGeom>
          <a:solidFill>
            <a:srgbClr val="E0F4F6"/>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
          <p:cNvSpPr/>
          <p:nvPr/>
        </p:nvSpPr>
        <p:spPr>
          <a:xfrm>
            <a:off x="502920" y="896112"/>
            <a:ext cx="2560320" cy="64008"/>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p:nvPr/>
        </p:nvSpPr>
        <p:spPr>
          <a:xfrm>
            <a:off x="1280160" y="1051560"/>
            <a:ext cx="1005840" cy="1005840"/>
          </a:xfrm>
          <a:prstGeom prst="ellipse">
            <a:avLst/>
          </a:prstGeom>
          <a:solidFill>
            <a:srgbClr val="FFFFFF"/>
          </a:solidFill>
          <a:ln cap="flat" cmpd="sng" w="1905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1280160" y="10515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470" name="Google Shape;470;p22"/>
          <p:cNvSpPr/>
          <p:nvPr/>
        </p:nvSpPr>
        <p:spPr>
          <a:xfrm>
            <a:off x="594360" y="214884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B8A"/>
              </a:buClr>
              <a:buSzPts val="1500"/>
              <a:buFont typeface="Open Sans"/>
              <a:buNone/>
            </a:pPr>
            <a:r>
              <a:rPr b="1" i="0" lang="en-US" sz="1500" u="none" cap="none" strike="noStrike">
                <a:solidFill>
                  <a:srgbClr val="007B8A"/>
                </a:solidFill>
                <a:latin typeface="Open Sans"/>
                <a:ea typeface="Open Sans"/>
                <a:cs typeface="Open Sans"/>
                <a:sym typeface="Open Sans"/>
              </a:rPr>
              <a:t>Claude.ai</a:t>
            </a:r>
            <a:endParaRPr b="0" i="0" sz="1500" u="none" cap="none" strike="noStrike">
              <a:solidFill>
                <a:schemeClr val="dk1"/>
              </a:solidFill>
              <a:latin typeface="Calibri"/>
              <a:ea typeface="Calibri"/>
              <a:cs typeface="Calibri"/>
              <a:sym typeface="Calibri"/>
            </a:endParaRPr>
          </a:p>
        </p:txBody>
      </p:sp>
      <p:sp>
        <p:nvSpPr>
          <p:cNvPr id="471" name="Google Shape;471;p22"/>
          <p:cNvSpPr/>
          <p:nvPr/>
        </p:nvSpPr>
        <p:spPr>
          <a:xfrm>
            <a:off x="594360" y="2523744"/>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chemeClr val="dk1"/>
                </a:solidFill>
                <a:latin typeface="Open Sans"/>
                <a:ea typeface="Open Sans"/>
                <a:cs typeface="Open Sans"/>
                <a:sym typeface="Open Sans"/>
              </a:rPr>
              <a:t>claude.ai</a:t>
            </a:r>
            <a:endParaRPr b="0" i="0" sz="950" u="none" cap="none" strike="noStrike">
              <a:solidFill>
                <a:schemeClr val="dk1"/>
              </a:solidFill>
              <a:latin typeface="Calibri"/>
              <a:ea typeface="Calibri"/>
              <a:cs typeface="Calibri"/>
              <a:sym typeface="Calibri"/>
            </a:endParaRPr>
          </a:p>
        </p:txBody>
      </p:sp>
      <p:cxnSp>
        <p:nvCxnSpPr>
          <p:cNvPr id="472" name="Google Shape;472;p22"/>
          <p:cNvCxnSpPr/>
          <p:nvPr/>
        </p:nvCxnSpPr>
        <p:spPr>
          <a:xfrm>
            <a:off x="630936" y="2798064"/>
            <a:ext cx="2304288" cy="0"/>
          </a:xfrm>
          <a:prstGeom prst="straightConnector1">
            <a:avLst/>
          </a:prstGeom>
          <a:noFill/>
          <a:ln cap="flat" cmpd="sng" w="9525">
            <a:solidFill>
              <a:srgbClr val="DEE6EC"/>
            </a:solidFill>
            <a:prstDash val="solid"/>
            <a:round/>
            <a:headEnd len="sm" w="sm" type="none"/>
            <a:tailEnd len="sm" w="sm" type="none"/>
          </a:ln>
        </p:spPr>
      </p:cxnSp>
      <p:sp>
        <p:nvSpPr>
          <p:cNvPr id="473" name="Google Shape;473;p22"/>
          <p:cNvSpPr/>
          <p:nvPr/>
        </p:nvSpPr>
        <p:spPr>
          <a:xfrm>
            <a:off x="594360" y="2880360"/>
            <a:ext cx="23774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Free tier. Strong for rubric drafting, feedback generation, and lesson planning. Start here.</a:t>
            </a:r>
            <a:endParaRPr b="0" i="0" sz="1150" u="none" cap="none" strike="noStrike">
              <a:solidFill>
                <a:schemeClr val="dk1"/>
              </a:solidFill>
              <a:latin typeface="Calibri"/>
              <a:ea typeface="Calibri"/>
              <a:cs typeface="Calibri"/>
              <a:sym typeface="Calibri"/>
            </a:endParaRPr>
          </a:p>
        </p:txBody>
      </p:sp>
      <p:sp>
        <p:nvSpPr>
          <p:cNvPr id="474" name="Google Shape;474;p22"/>
          <p:cNvSpPr/>
          <p:nvPr/>
        </p:nvSpPr>
        <p:spPr>
          <a:xfrm>
            <a:off x="3291840" y="896112"/>
            <a:ext cx="2560320" cy="3840480"/>
          </a:xfrm>
          <a:prstGeom prst="rect">
            <a:avLst/>
          </a:prstGeom>
          <a:solidFill>
            <a:srgbClr val="F6F8FA"/>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3291840" y="896112"/>
            <a:ext cx="2560320" cy="64008"/>
          </a:xfrm>
          <a:prstGeom prst="rect">
            <a:avLst/>
          </a:prstGeom>
          <a:solidFill>
            <a:srgbClr val="1A2B3C"/>
          </a:solidFill>
          <a:ln cap="flat" cmpd="sng" w="1270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2"/>
          <p:cNvSpPr/>
          <p:nvPr/>
        </p:nvSpPr>
        <p:spPr>
          <a:xfrm>
            <a:off x="4069080" y="1051560"/>
            <a:ext cx="1005840" cy="1005840"/>
          </a:xfrm>
          <a:prstGeom prst="ellipse">
            <a:avLst/>
          </a:prstGeom>
          <a:solidFill>
            <a:srgbClr val="FFFFFF"/>
          </a:solidFill>
          <a:ln cap="flat" cmpd="sng" w="19050">
            <a:solidFill>
              <a:srgbClr val="1A2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2"/>
          <p:cNvSpPr/>
          <p:nvPr/>
        </p:nvSpPr>
        <p:spPr>
          <a:xfrm>
            <a:off x="4069080" y="10515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478" name="Google Shape;478;p22"/>
          <p:cNvSpPr/>
          <p:nvPr/>
        </p:nvSpPr>
        <p:spPr>
          <a:xfrm>
            <a:off x="3383280" y="214884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C"/>
              </a:buClr>
              <a:buSzPts val="1500"/>
              <a:buFont typeface="Open Sans"/>
              <a:buNone/>
            </a:pPr>
            <a:r>
              <a:rPr b="1" i="0" lang="en-US" sz="1500" u="none" cap="none" strike="noStrike">
                <a:solidFill>
                  <a:srgbClr val="1A2B3C"/>
                </a:solidFill>
                <a:latin typeface="Open Sans"/>
                <a:ea typeface="Open Sans"/>
                <a:cs typeface="Open Sans"/>
                <a:sym typeface="Open Sans"/>
              </a:rPr>
              <a:t>Elicit.org</a:t>
            </a:r>
            <a:endParaRPr b="0" i="0" sz="1500" u="none" cap="none" strike="noStrike">
              <a:solidFill>
                <a:schemeClr val="dk1"/>
              </a:solidFill>
              <a:latin typeface="Calibri"/>
              <a:ea typeface="Calibri"/>
              <a:cs typeface="Calibri"/>
              <a:sym typeface="Calibri"/>
            </a:endParaRPr>
          </a:p>
        </p:txBody>
      </p:sp>
      <p:sp>
        <p:nvSpPr>
          <p:cNvPr id="479" name="Google Shape;479;p22"/>
          <p:cNvSpPr/>
          <p:nvPr/>
        </p:nvSpPr>
        <p:spPr>
          <a:xfrm>
            <a:off x="3383280" y="2523744"/>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chemeClr val="dk1"/>
                </a:solidFill>
                <a:latin typeface="Open Sans"/>
                <a:ea typeface="Open Sans"/>
                <a:cs typeface="Open Sans"/>
                <a:sym typeface="Open Sans"/>
              </a:rPr>
              <a:t>elicit.org</a:t>
            </a:r>
            <a:endParaRPr b="0" i="0" sz="950" u="none" cap="none" strike="noStrike">
              <a:solidFill>
                <a:schemeClr val="dk1"/>
              </a:solidFill>
              <a:latin typeface="Calibri"/>
              <a:ea typeface="Calibri"/>
              <a:cs typeface="Calibri"/>
              <a:sym typeface="Calibri"/>
            </a:endParaRPr>
          </a:p>
        </p:txBody>
      </p:sp>
      <p:cxnSp>
        <p:nvCxnSpPr>
          <p:cNvPr id="480" name="Google Shape;480;p22"/>
          <p:cNvCxnSpPr/>
          <p:nvPr/>
        </p:nvCxnSpPr>
        <p:spPr>
          <a:xfrm>
            <a:off x="3419856" y="2798064"/>
            <a:ext cx="2304288" cy="0"/>
          </a:xfrm>
          <a:prstGeom prst="straightConnector1">
            <a:avLst/>
          </a:prstGeom>
          <a:noFill/>
          <a:ln cap="flat" cmpd="sng" w="9525">
            <a:solidFill>
              <a:srgbClr val="DEE6EC"/>
            </a:solidFill>
            <a:prstDash val="solid"/>
            <a:round/>
            <a:headEnd len="sm" w="sm" type="none"/>
            <a:tailEnd len="sm" w="sm" type="none"/>
          </a:ln>
        </p:spPr>
      </p:cxnSp>
      <p:sp>
        <p:nvSpPr>
          <p:cNvPr id="481" name="Google Shape;481;p22"/>
          <p:cNvSpPr/>
          <p:nvPr/>
        </p:nvSpPr>
        <p:spPr>
          <a:xfrm>
            <a:off x="3383280" y="2880360"/>
            <a:ext cx="23774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Free for researchers. Searches academic literature and extracts key findings. Reliable for systematic scoping -- do not use for citation lists.</a:t>
            </a:r>
            <a:endParaRPr b="0" i="0" sz="1150" u="none" cap="none" strike="noStrike">
              <a:solidFill>
                <a:schemeClr val="dk1"/>
              </a:solidFill>
              <a:latin typeface="Calibri"/>
              <a:ea typeface="Calibri"/>
              <a:cs typeface="Calibri"/>
              <a:sym typeface="Calibri"/>
            </a:endParaRPr>
          </a:p>
        </p:txBody>
      </p:sp>
      <p:sp>
        <p:nvSpPr>
          <p:cNvPr id="482" name="Google Shape;482;p22"/>
          <p:cNvSpPr/>
          <p:nvPr/>
        </p:nvSpPr>
        <p:spPr>
          <a:xfrm>
            <a:off x="6080760" y="896112"/>
            <a:ext cx="2560320" cy="3840480"/>
          </a:xfrm>
          <a:prstGeom prst="rect">
            <a:avLst/>
          </a:prstGeom>
          <a:solidFill>
            <a:srgbClr val="FDF0E0"/>
          </a:solidFill>
          <a:ln cap="flat" cmpd="sng" w="12700">
            <a:solidFill>
              <a:srgbClr val="DEE6EC"/>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2"/>
          <p:cNvSpPr/>
          <p:nvPr/>
        </p:nvSpPr>
        <p:spPr>
          <a:xfrm>
            <a:off x="6080760" y="896112"/>
            <a:ext cx="2560320" cy="64008"/>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6858000" y="1051560"/>
            <a:ext cx="1005840" cy="1005840"/>
          </a:xfrm>
          <a:prstGeom prst="ellipse">
            <a:avLst/>
          </a:prstGeom>
          <a:solidFill>
            <a:srgbClr val="FFFFFF"/>
          </a:solidFill>
          <a:ln cap="flat" cmpd="sng" w="1905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6858000" y="10515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Quattrocento Sans"/>
              <a:buNone/>
            </a:pPr>
            <a:r>
              <a:rPr b="0" i="0" lang="en-US" sz="3400" u="none" cap="none" strike="noStrike">
                <a:solidFill>
                  <a:srgbClr val="000000"/>
                </a:solidFill>
                <a:latin typeface="Quattrocento Sans"/>
                <a:ea typeface="Quattrocento Sans"/>
                <a:cs typeface="Quattrocento Sans"/>
                <a:sym typeface="Quattrocento Sans"/>
              </a:rPr>
              <a:t>🎓</a:t>
            </a:r>
            <a:endParaRPr b="0" i="0" sz="3400" u="none" cap="none" strike="noStrike">
              <a:solidFill>
                <a:schemeClr val="dk1"/>
              </a:solidFill>
              <a:latin typeface="Calibri"/>
              <a:ea typeface="Calibri"/>
              <a:cs typeface="Calibri"/>
              <a:sym typeface="Calibri"/>
            </a:endParaRPr>
          </a:p>
        </p:txBody>
      </p:sp>
      <p:sp>
        <p:nvSpPr>
          <p:cNvPr id="486" name="Google Shape;486;p22"/>
          <p:cNvSpPr/>
          <p:nvPr/>
        </p:nvSpPr>
        <p:spPr>
          <a:xfrm>
            <a:off x="6172200" y="214884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1A"/>
              </a:buClr>
              <a:buSzPts val="1500"/>
              <a:buFont typeface="Open Sans"/>
              <a:buNone/>
            </a:pPr>
            <a:r>
              <a:rPr b="1" i="0" lang="en-US" sz="1500" u="none" cap="none" strike="noStrike">
                <a:solidFill>
                  <a:srgbClr val="E8831A"/>
                </a:solidFill>
                <a:latin typeface="Open Sans"/>
                <a:ea typeface="Open Sans"/>
                <a:cs typeface="Open Sans"/>
                <a:sym typeface="Open Sans"/>
              </a:rPr>
              <a:t>EDUCAUSE AI Resources</a:t>
            </a:r>
            <a:endParaRPr b="0" i="0" sz="1500" u="none" cap="none" strike="noStrike">
              <a:solidFill>
                <a:schemeClr val="dk1"/>
              </a:solidFill>
              <a:latin typeface="Calibri"/>
              <a:ea typeface="Calibri"/>
              <a:cs typeface="Calibri"/>
              <a:sym typeface="Calibri"/>
            </a:endParaRPr>
          </a:p>
        </p:txBody>
      </p:sp>
      <p:sp>
        <p:nvSpPr>
          <p:cNvPr id="487" name="Google Shape;487;p22"/>
          <p:cNvSpPr/>
          <p:nvPr/>
        </p:nvSpPr>
        <p:spPr>
          <a:xfrm>
            <a:off x="6172200" y="2523744"/>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FB0"/>
              </a:buClr>
              <a:buSzPts val="950"/>
              <a:buFont typeface="Open Sans"/>
              <a:buNone/>
            </a:pPr>
            <a:r>
              <a:rPr b="0" i="1" lang="en-US" sz="950" u="none" cap="none" strike="noStrike">
                <a:solidFill>
                  <a:schemeClr val="dk1"/>
                </a:solidFill>
                <a:latin typeface="Open Sans"/>
                <a:ea typeface="Open Sans"/>
                <a:cs typeface="Open Sans"/>
                <a:sym typeface="Open Sans"/>
              </a:rPr>
              <a:t>educause.edu / AI focus</a:t>
            </a:r>
            <a:endParaRPr b="0" i="0" sz="950" u="none" cap="none" strike="noStrike">
              <a:solidFill>
                <a:schemeClr val="dk1"/>
              </a:solidFill>
              <a:latin typeface="Calibri"/>
              <a:ea typeface="Calibri"/>
              <a:cs typeface="Calibri"/>
              <a:sym typeface="Calibri"/>
            </a:endParaRPr>
          </a:p>
        </p:txBody>
      </p:sp>
      <p:cxnSp>
        <p:nvCxnSpPr>
          <p:cNvPr id="488" name="Google Shape;488;p22"/>
          <p:cNvCxnSpPr/>
          <p:nvPr/>
        </p:nvCxnSpPr>
        <p:spPr>
          <a:xfrm>
            <a:off x="6208776" y="2798064"/>
            <a:ext cx="2304288" cy="0"/>
          </a:xfrm>
          <a:prstGeom prst="straightConnector1">
            <a:avLst/>
          </a:prstGeom>
          <a:noFill/>
          <a:ln cap="flat" cmpd="sng" w="9525">
            <a:solidFill>
              <a:srgbClr val="DEE6EC"/>
            </a:solidFill>
            <a:prstDash val="solid"/>
            <a:round/>
            <a:headEnd len="sm" w="sm" type="none"/>
            <a:tailEnd len="sm" w="sm" type="none"/>
          </a:ln>
        </p:spPr>
      </p:cxnSp>
      <p:sp>
        <p:nvSpPr>
          <p:cNvPr id="489" name="Google Shape;489;p22"/>
          <p:cNvSpPr/>
          <p:nvPr/>
        </p:nvSpPr>
        <p:spPr>
          <a:xfrm>
            <a:off x="6172200" y="2880360"/>
            <a:ext cx="23774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535"/>
              </a:buClr>
              <a:buSzPts val="1150"/>
              <a:buFont typeface="Open Sans"/>
              <a:buNone/>
            </a:pPr>
            <a:r>
              <a:rPr b="0" i="0" lang="en-US" sz="1150" u="none" cap="none" strike="noStrike">
                <a:solidFill>
                  <a:srgbClr val="1A2535"/>
                </a:solidFill>
                <a:latin typeface="Open Sans"/>
                <a:ea typeface="Open Sans"/>
                <a:cs typeface="Open Sans"/>
                <a:sym typeface="Open Sans"/>
              </a:rPr>
              <a:t>Policy frameworks, case studies, and guidance for HEI leaders and teaching faculty. Well-grounded in institutional realities.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3C"/>
        </a:solidFill>
      </p:bgPr>
    </p:bg>
    <p:spTree>
      <p:nvGrpSpPr>
        <p:cNvPr id="494" name="Shape 494"/>
        <p:cNvGrpSpPr/>
        <p:nvPr/>
      </p:nvGrpSpPr>
      <p:grpSpPr>
        <a:xfrm>
          <a:off x="0" y="0"/>
          <a:ext cx="0" cy="0"/>
          <a:chOff x="0" y="0"/>
          <a:chExt cx="0" cy="0"/>
        </a:xfrm>
      </p:grpSpPr>
      <p:sp>
        <p:nvSpPr>
          <p:cNvPr id="495" name="Google Shape;495;p23"/>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6070"/>
              </a:buClr>
              <a:buSzPts val="800"/>
              <a:buFont typeface="Open Sans"/>
              <a:buNone/>
            </a:pPr>
            <a:r>
              <a:rPr b="0" i="0" lang="en-US" sz="800" u="none" cap="none" strike="noStrike">
                <a:solidFill>
                  <a:srgbClr val="456070"/>
                </a:solidFill>
                <a:latin typeface="Open Sans"/>
                <a:ea typeface="Open Sans"/>
                <a:cs typeface="Open Sans"/>
                <a:sym typeface="Open Sans"/>
              </a:rPr>
              <a:t>21</a:t>
            </a:r>
            <a:endParaRPr b="0" i="0" sz="800" u="none" cap="none" strike="noStrike">
              <a:solidFill>
                <a:schemeClr val="dk1"/>
              </a:solidFill>
              <a:latin typeface="Calibri"/>
              <a:ea typeface="Calibri"/>
              <a:cs typeface="Calibri"/>
              <a:sym typeface="Calibri"/>
            </a:endParaRPr>
          </a:p>
        </p:txBody>
      </p:sp>
      <p:sp>
        <p:nvSpPr>
          <p:cNvPr id="496" name="Google Shape;496;p23"/>
          <p:cNvSpPr/>
          <p:nvPr/>
        </p:nvSpPr>
        <p:spPr>
          <a:xfrm>
            <a:off x="0" y="457200"/>
            <a:ext cx="9144000" cy="1664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9000"/>
              <a:buFont typeface="Quattrocento Sans"/>
              <a:buNone/>
            </a:pPr>
            <a:r>
              <a:rPr b="0" i="0" lang="en-US" sz="9000" u="none" cap="none" strike="noStrike">
                <a:solidFill>
                  <a:srgbClr val="000000"/>
                </a:solidFill>
                <a:latin typeface="Quattrocento Sans"/>
                <a:ea typeface="Quattrocento Sans"/>
                <a:cs typeface="Quattrocento Sans"/>
                <a:sym typeface="Quattrocento Sans"/>
              </a:rPr>
              <a:t>🦋</a:t>
            </a:r>
            <a:endParaRPr b="0" i="0" sz="9000" u="none" cap="none" strike="noStrike">
              <a:solidFill>
                <a:schemeClr val="dk1"/>
              </a:solidFill>
              <a:latin typeface="Calibri"/>
              <a:ea typeface="Calibri"/>
              <a:cs typeface="Calibri"/>
              <a:sym typeface="Calibri"/>
            </a:endParaRPr>
          </a:p>
        </p:txBody>
      </p:sp>
      <p:sp>
        <p:nvSpPr>
          <p:cNvPr id="497" name="Google Shape;497;p23"/>
          <p:cNvSpPr/>
          <p:nvPr/>
        </p:nvSpPr>
        <p:spPr>
          <a:xfrm>
            <a:off x="3017520" y="2176272"/>
            <a:ext cx="1927555"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3"/>
          <p:cNvSpPr/>
          <p:nvPr/>
        </p:nvSpPr>
        <p:spPr>
          <a:xfrm>
            <a:off x="4945075" y="2176272"/>
            <a:ext cx="1181405"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3"/>
          <p:cNvSpPr/>
          <p:nvPr/>
        </p:nvSpPr>
        <p:spPr>
          <a:xfrm>
            <a:off x="457200" y="2359152"/>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Open Sans"/>
              <a:buNone/>
            </a:pPr>
            <a:r>
              <a:rPr b="1" i="0" lang="en-US" sz="3200" u="none" cap="none" strike="noStrike">
                <a:solidFill>
                  <a:srgbClr val="FFFFFF"/>
                </a:solidFill>
                <a:latin typeface="Open Sans"/>
                <a:ea typeface="Open Sans"/>
                <a:cs typeface="Open Sans"/>
                <a:sym typeface="Open Sans"/>
              </a:rPr>
              <a:t>The initial condition has already changed.</a:t>
            </a:r>
            <a:endParaRPr b="0" i="0" sz="3200" u="none" cap="none" strike="noStrike">
              <a:solidFill>
                <a:schemeClr val="dk1"/>
              </a:solidFill>
              <a:latin typeface="Calibri"/>
              <a:ea typeface="Calibri"/>
              <a:cs typeface="Calibri"/>
              <a:sym typeface="Calibri"/>
            </a:endParaRPr>
          </a:p>
        </p:txBody>
      </p:sp>
      <p:sp>
        <p:nvSpPr>
          <p:cNvPr id="500" name="Google Shape;500;p23"/>
          <p:cNvSpPr/>
          <p:nvPr/>
        </p:nvSpPr>
        <p:spPr>
          <a:xfrm>
            <a:off x="457200" y="4663440"/>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56070"/>
              </a:buClr>
              <a:buSzPts val="950"/>
              <a:buFont typeface="Open Sans"/>
              <a:buNone/>
            </a:pPr>
            <a:r>
              <a:rPr b="0" i="0" lang="en-US" sz="950" u="none" cap="none" strike="noStrike">
                <a:solidFill>
                  <a:srgbClr val="456070"/>
                </a:solidFill>
                <a:latin typeface="Open Sans"/>
                <a:ea typeface="Open Sans"/>
                <a:cs typeface="Open Sans"/>
                <a:sym typeface="Open Sans"/>
              </a:rPr>
              <a:t>NIBM Academic Development  |  2025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505" name="Shape 505"/>
        <p:cNvGrpSpPr/>
        <p:nvPr/>
      </p:nvGrpSpPr>
      <p:grpSpPr>
        <a:xfrm>
          <a:off x="0" y="0"/>
          <a:ext cx="0" cy="0"/>
          <a:chOff x="0" y="0"/>
          <a:chExt cx="0" cy="0"/>
        </a:xfrm>
      </p:grpSpPr>
      <p:sp>
        <p:nvSpPr>
          <p:cNvPr id="506" name="Google Shape;506;p24"/>
          <p:cNvSpPr/>
          <p:nvPr/>
        </p:nvSpPr>
        <p:spPr>
          <a:xfrm>
            <a:off x="502920" y="237744"/>
            <a:ext cx="2154326" cy="59436"/>
          </a:xfrm>
          <a:prstGeom prst="rect">
            <a:avLst/>
          </a:prstGeom>
          <a:solidFill>
            <a:srgbClr val="007B8A"/>
          </a:solidFill>
          <a:ln cap="flat" cmpd="sng" w="12700">
            <a:solidFill>
              <a:srgbClr val="007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4"/>
          <p:cNvSpPr/>
          <p:nvPr/>
        </p:nvSpPr>
        <p:spPr>
          <a:xfrm>
            <a:off x="2657246" y="237744"/>
            <a:ext cx="1320394" cy="59436"/>
          </a:xfrm>
          <a:prstGeom prst="rect">
            <a:avLst/>
          </a:prstGeom>
          <a:solidFill>
            <a:srgbClr val="E8831A"/>
          </a:solidFill>
          <a:ln cap="flat" cmpd="sng" w="12700">
            <a:solidFill>
              <a:srgbClr val="E88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4"/>
          <p:cNvSpPr/>
          <p:nvPr/>
        </p:nvSpPr>
        <p:spPr>
          <a:xfrm>
            <a:off x="502920" y="329184"/>
            <a:ext cx="81381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535"/>
              </a:buClr>
              <a:buSzPts val="1600"/>
              <a:buFont typeface="Open Sans"/>
              <a:buNone/>
            </a:pPr>
            <a:r>
              <a:rPr b="1" i="0" lang="en-US" sz="1600" u="none" cap="none" strike="noStrike">
                <a:solidFill>
                  <a:srgbClr val="1A2535"/>
                </a:solidFill>
                <a:latin typeface="Open Sans"/>
                <a:ea typeface="Open Sans"/>
                <a:cs typeface="Open Sans"/>
                <a:sym typeface="Open Sans"/>
              </a:rPr>
              <a:t>Disclaimer and Copyright</a:t>
            </a:r>
            <a:endParaRPr b="0" i="0" sz="1600" u="none" cap="none" strike="noStrike">
              <a:solidFill>
                <a:schemeClr val="dk1"/>
              </a:solidFill>
              <a:latin typeface="Calibri"/>
              <a:ea typeface="Calibri"/>
              <a:cs typeface="Calibri"/>
              <a:sym typeface="Calibri"/>
            </a:endParaRPr>
          </a:p>
        </p:txBody>
      </p:sp>
      <p:cxnSp>
        <p:nvCxnSpPr>
          <p:cNvPr id="509" name="Google Shape;509;p24"/>
          <p:cNvCxnSpPr/>
          <p:nvPr/>
        </p:nvCxnSpPr>
        <p:spPr>
          <a:xfrm>
            <a:off x="502920" y="804672"/>
            <a:ext cx="8138160" cy="0"/>
          </a:xfrm>
          <a:prstGeom prst="straightConnector1">
            <a:avLst/>
          </a:prstGeom>
          <a:noFill/>
          <a:ln cap="flat" cmpd="sng" w="12700">
            <a:solidFill>
              <a:srgbClr val="DEE6EC"/>
            </a:solidFill>
            <a:prstDash val="solid"/>
            <a:round/>
            <a:headEnd len="sm" w="sm" type="none"/>
            <a:tailEnd len="sm" w="sm" type="none"/>
          </a:ln>
        </p:spPr>
      </p:cxnSp>
      <p:sp>
        <p:nvSpPr>
          <p:cNvPr id="510" name="Google Shape;510;p24"/>
          <p:cNvSpPr/>
          <p:nvPr/>
        </p:nvSpPr>
        <p:spPr>
          <a:xfrm>
            <a:off x="502920" y="896112"/>
            <a:ext cx="8138160" cy="3794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E70"/>
              </a:buClr>
              <a:buSzPts val="1150"/>
              <a:buFont typeface="Open Sans"/>
              <a:buNone/>
            </a:pPr>
            <a:r>
              <a:rPr b="0" i="0" lang="en-US" sz="1150" u="none" cap="none" strike="noStrike">
                <a:solidFill>
                  <a:srgbClr val="4A5E70"/>
                </a:solidFill>
                <a:latin typeface="Open Sans"/>
                <a:ea typeface="Open Sans"/>
                <a:cs typeface="Open Sans"/>
                <a:sym typeface="Open Sans"/>
              </a:rPr>
              <a:t>This presentation was produced for academic development purposes at the National Institute of Business Management (NIBM), Sri Lanka, and is intended for qualified academic staff engaged in professional development activities.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E70"/>
              </a:buClr>
              <a:buSzPts val="1150"/>
              <a:buFont typeface="Open Sans"/>
              <a:buNone/>
            </a:pPr>
            <a:r>
              <a:rPr b="0" i="0" lang="en-US" sz="1150" u="none" cap="none" strike="noStrike">
                <a:solidFill>
                  <a:srgbClr val="4A5E70"/>
                </a:solidFill>
                <a:latin typeface="Open Sans"/>
                <a:ea typeface="Open Sans"/>
                <a:cs typeface="Open Sans"/>
                <a:sym typeface="Open Sans"/>
              </a:rPr>
              <a:t>All AI tool demonstrations and examples within this deck are illustrative. The fabricated academic reference on slide 15 is intentionally constructed to demonstrate AI hallucination behaviour and does not represent any real published research or author.</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E70"/>
              </a:buClr>
              <a:buSzPts val="1150"/>
              <a:buFont typeface="Open Sans"/>
              <a:buNone/>
            </a:pPr>
            <a:r>
              <a:rPr b="0" i="0" lang="en-US" sz="1150" u="none" cap="none" strike="noStrike">
                <a:solidFill>
                  <a:srgbClr val="4A5E70"/>
                </a:solidFill>
                <a:latin typeface="Open Sans"/>
                <a:ea typeface="Open Sans"/>
                <a:cs typeface="Open Sans"/>
                <a:sym typeface="Open Sans"/>
              </a:rPr>
              <a:t>Tool names, access conditions, and pricing referenced are accurate as of 202</a:t>
            </a:r>
            <a:r>
              <a:rPr lang="en-US" sz="1150">
                <a:solidFill>
                  <a:srgbClr val="4A5E70"/>
                </a:solidFill>
                <a:latin typeface="Open Sans"/>
                <a:ea typeface="Open Sans"/>
                <a:cs typeface="Open Sans"/>
                <a:sym typeface="Open Sans"/>
              </a:rPr>
              <a:t>6</a:t>
            </a:r>
            <a:r>
              <a:rPr b="0" i="0" lang="en-US" sz="1150" u="none" cap="none" strike="noStrike">
                <a:solidFill>
                  <a:srgbClr val="4A5E70"/>
                </a:solidFill>
                <a:latin typeface="Open Sans"/>
                <a:ea typeface="Open Sans"/>
                <a:cs typeface="Open Sans"/>
                <a:sym typeface="Open Sans"/>
              </a:rPr>
              <a:t> and are subject to change by the respective providers. NIBM does not endorse any specific commercial AI product or service mentioned in this presentation.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E70"/>
              </a:buClr>
              <a:buSzPts val="1150"/>
              <a:buFont typeface="Open Sans"/>
              <a:buNone/>
            </a:pPr>
            <a:r>
              <a:rPr b="0" i="0" lang="en-US" sz="1150" u="none" cap="none" strike="noStrike">
                <a:solidFill>
                  <a:srgbClr val="4A5E70"/>
                </a:solidFill>
                <a:latin typeface="Open Sans"/>
                <a:ea typeface="Open Sans"/>
                <a:cs typeface="Open Sans"/>
                <a:sym typeface="Open Sans"/>
              </a:rPr>
              <a:t>Copyright 202</a:t>
            </a:r>
            <a:r>
              <a:rPr lang="en-US" sz="1150">
                <a:solidFill>
                  <a:srgbClr val="4A5E70"/>
                </a:solidFill>
                <a:latin typeface="Open Sans"/>
                <a:ea typeface="Open Sans"/>
                <a:cs typeface="Open Sans"/>
                <a:sym typeface="Open Sans"/>
              </a:rPr>
              <a:t>6</a:t>
            </a:r>
            <a:r>
              <a:rPr b="0" i="0" lang="en-US" sz="1150" u="none" cap="none" strike="noStrike">
                <a:solidFill>
                  <a:srgbClr val="4A5E70"/>
                </a:solidFill>
                <a:latin typeface="Open Sans"/>
                <a:ea typeface="Open Sans"/>
                <a:cs typeface="Open Sans"/>
                <a:sym typeface="Open Sans"/>
              </a:rPr>
              <a:t> National Institute of Business Management, Sri Lanka. Reproduction for non-commercial academic purposes is permitted with full attribution to the source.</a:t>
            </a:r>
            <a:endParaRPr b="0" i="0" sz="1150" u="none" cap="none" strike="noStrike">
              <a:solidFill>
                <a:schemeClr val="dk1"/>
              </a:solidFill>
              <a:latin typeface="Calibri"/>
              <a:ea typeface="Calibri"/>
              <a:cs typeface="Calibri"/>
              <a:sym typeface="Calibri"/>
            </a:endParaRPr>
          </a:p>
        </p:txBody>
      </p:sp>
      <p:sp>
        <p:nvSpPr>
          <p:cNvPr id="511" name="Google Shape;511;p24"/>
          <p:cNvSpPr/>
          <p:nvPr/>
        </p:nvSpPr>
        <p:spPr>
          <a:xfrm>
            <a:off x="8458200" y="4828032"/>
            <a:ext cx="548640" cy="1920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FB0"/>
              </a:buClr>
              <a:buSzPts val="800"/>
              <a:buFont typeface="Open Sans"/>
              <a:buNone/>
            </a:pPr>
            <a:r>
              <a:rPr b="0" i="0" lang="en-US" sz="800" u="none" cap="none" strike="noStrike">
                <a:solidFill>
                  <a:srgbClr val="8A9FB0"/>
                </a:solidFill>
                <a:latin typeface="Open Sans"/>
                <a:ea typeface="Open Sans"/>
                <a:cs typeface="Open Sans"/>
                <a:sym typeface="Open Sans"/>
              </a:rPr>
              <a:t>22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